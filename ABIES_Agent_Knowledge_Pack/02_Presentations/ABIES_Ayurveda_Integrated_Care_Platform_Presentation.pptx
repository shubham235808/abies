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IES_MASTER">
    <p:bg>
      <p:bgPr>
        <a:solidFill>
          <a:srgbClr val="FA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411480"/>
            <a:ext cx="2834640" cy="1691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267712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Ayurveda Integrated</a:t>
            </a:r>
            <a:endParaRPr lang="en-US" sz="4300" dirty="0"/>
          </a:p>
          <a:p>
            <a:pPr algn="ctr" indent="0" marL="0">
              <a:buNone/>
            </a:pPr>
            <a:r>
              <a:rPr lang="en-US" sz="43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 Platform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1051560" y="35478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8A17"/>
                </a:solidFill>
              </a:rPr>
              <a:t>Enhanced product blueprint, operations model and development sprint plan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800600" y="4224528"/>
            <a:ext cx="2606040" cy="384048"/>
          </a:xfrm>
          <a:prstGeom prst="rect">
            <a:avLst/>
          </a:prstGeom>
          <a:solidFill>
            <a:srgbClr val="C6007E"/>
          </a:solidFill>
          <a:ln>
            <a:solidFill>
              <a:srgbClr val="C6007E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Prepared for ABIES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828800" y="4901184"/>
            <a:ext cx="8549640" cy="960120"/>
          </a:xfrm>
          <a:prstGeom prst="rect">
            <a:avLst/>
          </a:prstGeom>
          <a:solidFill>
            <a:srgbClr val="F5ECF7"/>
          </a:solidFill>
          <a:ln w="1460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promise
</a:t>
            </a:r>
            <a:pPr indent="0" marL="0">
              <a:buNone/>
            </a:pPr>
            <a:r>
              <a:rPr lang="en-US" sz="18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coordinated care journey connecting patients, verified Vaidyas, diagnostics, medicines, Panchakarma services, support and follow-up.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02920" y="6519672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Confidential concept deck | September 2026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is an ABIES opportunity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The gap is not online Ayurveda. The gap is end-to-end care orchestration.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>
            <a:solidFill>
              <a:srgbClr val="F28A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85800" y="1481328"/>
            <a:ext cx="3429000" cy="1920240"/>
          </a:xfrm>
          <a:prstGeom prst="rect">
            <a:avLst/>
          </a:prstGeom>
          <a:solidFill>
            <a:srgbClr val="F5ECF7"/>
          </a:solidFill>
          <a:ln w="1460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Fragmented today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doctor → WhatsApp reports → separate lab → separate medicines → separate Panchakarma → weak follow-up.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89120" y="1481328"/>
            <a:ext cx="3429000" cy="1920240"/>
          </a:xfrm>
          <a:prstGeom prst="rect">
            <a:avLst/>
          </a:prstGeom>
          <a:solidFill>
            <a:srgbClr val="EAF6FC"/>
          </a:solidFill>
          <a:ln w="1460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ABIES opportunity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Become the operating layer that coordinates consultation, diagnostics, fulfilment, therapy sessions and support.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92440" y="1481328"/>
            <a:ext cx="3429000" cy="1920240"/>
          </a:xfrm>
          <a:prstGeom prst="rect">
            <a:avLst/>
          </a:prstGeom>
          <a:solidFill>
            <a:srgbClr val="FFF3E4"/>
          </a:solidFill>
          <a:ln w="1460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benefit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Recurring Care Plans create repeat engagement, partner revenue and long-term customer relationships.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3886200"/>
            <a:ext cx="100584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4313A"/>
                </a:solidFill>
              </a:rPr>
              <a:t>• Start with a controlled city pilot, not a national launch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34313A"/>
                </a:solidFill>
              </a:rPr>
              <a:t>• Build trust through verified practitioners and audited partners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34313A"/>
                </a:solidFill>
              </a:rPr>
              <a:t>• Treat support, sales and technical operations as product modules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02920" y="6519672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vision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A healthcare infrastructure layer for Ayurveda, not just a doctor-booking app.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>
            <a:solidFill>
              <a:srgbClr val="F28A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94360" y="1554480"/>
            <a:ext cx="2743200" cy="1920240"/>
          </a:xfrm>
          <a:prstGeom prst="rect">
            <a:avLst/>
          </a:prstGeom>
          <a:solidFill>
            <a:srgbClr val="FFFFFF"/>
          </a:solidFill>
          <a:ln w="1460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App
</a:t>
            </a:r>
            <a:pPr indent="0" marL="0">
              <a:buNone/>
            </a:pPr>
            <a:r>
              <a:rPr lang="en-US" sz="14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verified Vaidyas, book consults, upload records, receive Care Plans, order medicines, book tests and track therapy.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520440" y="1554480"/>
            <a:ext cx="2743200" cy="1920240"/>
          </a:xfrm>
          <a:prstGeom prst="rect">
            <a:avLst/>
          </a:prstGeom>
          <a:solidFill>
            <a:srgbClr val="FFFFFF"/>
          </a:solidFill>
          <a:ln w="1460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Vaidya Portal
</a:t>
            </a:r>
            <a:pPr indent="0" marL="0">
              <a:buNone/>
            </a:pPr>
            <a:r>
              <a:rPr lang="en-US" sz="14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assessment, consultation notes, digital prescription, Care Plan, follow-up and patient timeline.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46520" y="1554480"/>
            <a:ext cx="2743200" cy="1920240"/>
          </a:xfrm>
          <a:prstGeom prst="rect">
            <a:avLst/>
          </a:prstGeom>
          <a:solidFill>
            <a:srgbClr val="FFFFFF"/>
          </a:solidFill>
          <a:ln w="1460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Network
</a:t>
            </a:r>
            <a:pPr indent="0" marL="0">
              <a:buNone/>
            </a:pPr>
            <a:r>
              <a:rPr lang="en-US" sz="14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Pharmacy, labs and Panchakarma centres with service catalogues, slots, SLAs and settlements.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372600" y="1554480"/>
            <a:ext cx="2240280" cy="1920240"/>
          </a:xfrm>
          <a:prstGeom prst="rect">
            <a:avLst/>
          </a:prstGeom>
          <a:solidFill>
            <a:srgbClr val="FFFFFF"/>
          </a:solidFill>
          <a:ln w="14605">
            <a:solidFill>
              <a:srgbClr val="C6007E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&amp; Ops
</a:t>
            </a:r>
            <a:pPr indent="0" marL="0">
              <a:buNone/>
            </a:pPr>
            <a:r>
              <a:rPr lang="en-US" sz="14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360, ticketing, sales pipeline, TechOps, quality governance and release gates.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788920" y="4160520"/>
            <a:ext cx="6629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2A86"/>
                </a:solidFill>
              </a:rPr>
              <a:t>Single product object: Care Plan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920240" y="482803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313A"/>
                </a:solidFill>
              </a:rPr>
              <a:t>A 4-12 week journey combining consultation, prescription, diagnostics, medicine fulfilment, therapy sessions, reminders and follow-up.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02920" y="6519672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 ecosystem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ABIES becomes the orchestration layer between patients and care providers.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>
            <a:solidFill>
              <a:srgbClr val="F28A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31520" y="2468880"/>
            <a:ext cx="1828800" cy="868680"/>
          </a:xfrm>
          <a:prstGeom prst="rect">
            <a:avLst/>
          </a:prstGeom>
          <a:solidFill>
            <a:srgbClr val="F5ECF7"/>
          </a:solidFill>
          <a:ln w="1460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
</a:t>
            </a:r>
            <a:pPr indent="0" marL="0">
              <a:buNone/>
            </a:pPr>
            <a:r>
              <a:rPr lang="en-US" sz="14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/ web / WhatsApp assisted access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0" y="1508760"/>
            <a:ext cx="1828800" cy="868680"/>
          </a:xfrm>
          <a:prstGeom prst="rect">
            <a:avLst/>
          </a:prstGeom>
          <a:solidFill>
            <a:srgbClr val="EAF6FC"/>
          </a:solidFill>
          <a:ln w="1460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VAIDYA
</a:t>
            </a:r>
            <a:pPr indent="0" marL="0">
              <a:buNone/>
            </a:pPr>
            <a:r>
              <a:rPr lang="en-US" sz="14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workflow + Care Plan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35240" y="1508760"/>
            <a:ext cx="1828800" cy="868680"/>
          </a:xfrm>
          <a:prstGeom prst="rect">
            <a:avLst/>
          </a:prstGeom>
          <a:solidFill>
            <a:srgbClr val="FFF3E4"/>
          </a:solidFill>
          <a:ln w="1460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PHARMACY
</a:t>
            </a:r>
            <a:pPr indent="0" marL="0">
              <a:buNone/>
            </a:pPr>
            <a:r>
              <a:rPr lang="en-US" sz="14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Prescription fulfilment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46920" y="2468880"/>
            <a:ext cx="1828800" cy="868680"/>
          </a:xfrm>
          <a:prstGeom prst="rect">
            <a:avLst/>
          </a:prstGeom>
          <a:solidFill>
            <a:srgbClr val="F5ECF7"/>
          </a:solidFill>
          <a:ln w="14605">
            <a:solidFill>
              <a:srgbClr val="C6007E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PANCHAKARMA
</a:t>
            </a:r>
            <a:pPr indent="0" marL="0">
              <a:buNone/>
            </a:pPr>
            <a:r>
              <a:rPr lang="en-US" sz="14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Therapy packages + session tracking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35240" y="3794760"/>
            <a:ext cx="1828800" cy="868680"/>
          </a:xfrm>
          <a:prstGeom prst="rect">
            <a:avLst/>
          </a:prstGeom>
          <a:solidFill>
            <a:srgbClr val="EAF6FC"/>
          </a:solidFill>
          <a:ln w="1460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DIAGNOSTICS
</a:t>
            </a:r>
            <a:pPr indent="0" marL="0">
              <a:buNone/>
            </a:pPr>
            <a:r>
              <a:rPr lang="en-US" sz="14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+ report routing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743200" y="3794760"/>
            <a:ext cx="1828800" cy="868680"/>
          </a:xfrm>
          <a:prstGeom prst="rect">
            <a:avLst/>
          </a:prstGeom>
          <a:solidFill>
            <a:srgbClr val="FFF3E4"/>
          </a:solidFill>
          <a:ln w="1460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/ OPS
</a:t>
            </a:r>
            <a:pPr indent="0" marL="0">
              <a:buNone/>
            </a:pPr>
            <a:r>
              <a:rPr lang="en-US" sz="14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360 + SLA + TechOps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46320" y="2240280"/>
            <a:ext cx="2514600" cy="1417320"/>
          </a:xfrm>
          <a:prstGeom prst="rect">
            <a:avLst/>
          </a:prstGeom>
          <a:solidFill>
            <a:srgbClr val="812A86"/>
          </a:solidFill>
          <a:ln>
            <a:solidFill>
              <a:srgbClr val="812A86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ABIES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Care Orchestration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Platform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02920" y="6519672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Patient journey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The platform keeps the patient connected throughout treatment, not only during booking.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>
            <a:solidFill>
              <a:srgbClr val="F28A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11480" y="1600200"/>
            <a:ext cx="1170432" cy="1371600"/>
          </a:xfrm>
          <a:prstGeom prst="rect">
            <a:avLst/>
          </a:prstGeom>
          <a:solidFill>
            <a:srgbClr val="F5ECF7"/>
          </a:solidFill>
          <a:ln w="1460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
</a:t>
            </a:r>
            <a:pPr indent="0" marL="0">
              <a:buNone/>
            </a:pPr>
            <a:r>
              <a:rPr lang="en-US" sz="10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ABHA-ready identity and family profile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856232" y="1600200"/>
            <a:ext cx="1170432" cy="1371600"/>
          </a:xfrm>
          <a:prstGeom prst="rect">
            <a:avLst/>
          </a:prstGeom>
          <a:solidFill>
            <a:srgbClr val="EAF6FC"/>
          </a:solidFill>
          <a:ln w="1460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Profile
</a:t>
            </a:r>
            <a:pPr indent="0" marL="0">
              <a:buNone/>
            </a:pPr>
            <a:r>
              <a:rPr lang="en-US" sz="10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Symptoms, reports and health history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300984" y="1600200"/>
            <a:ext cx="1170432" cy="1371600"/>
          </a:xfrm>
          <a:prstGeom prst="rect">
            <a:avLst/>
          </a:prstGeom>
          <a:solidFill>
            <a:srgbClr val="F5ECF7"/>
          </a:solidFill>
          <a:ln w="1460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Vaidya
</a:t>
            </a:r>
            <a:pPr indent="0" marL="0">
              <a:buNone/>
            </a:pPr>
            <a:r>
              <a:rPr lang="en-US" sz="10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doctors and availability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745736" y="1600200"/>
            <a:ext cx="1170432" cy="1371600"/>
          </a:xfrm>
          <a:prstGeom prst="rect">
            <a:avLst/>
          </a:prstGeom>
          <a:solidFill>
            <a:srgbClr val="EAF6FC"/>
          </a:solidFill>
          <a:ln w="1460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
</a:t>
            </a:r>
            <a:pPr indent="0" marL="0">
              <a:buNone/>
            </a:pPr>
            <a:r>
              <a:rPr lang="en-US" sz="10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or clinic visit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90488" y="1600200"/>
            <a:ext cx="1170432" cy="1371600"/>
          </a:xfrm>
          <a:prstGeom prst="rect">
            <a:avLst/>
          </a:prstGeom>
          <a:solidFill>
            <a:srgbClr val="F5ECF7"/>
          </a:solidFill>
          <a:ln w="1460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 Plan
</a:t>
            </a:r>
            <a:pPr indent="0" marL="0">
              <a:buNone/>
            </a:pPr>
            <a:r>
              <a:rPr lang="en-US" sz="10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Prescription + actions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35240" y="1600200"/>
            <a:ext cx="1170432" cy="1371600"/>
          </a:xfrm>
          <a:prstGeom prst="rect">
            <a:avLst/>
          </a:prstGeom>
          <a:solidFill>
            <a:srgbClr val="EAF6FC"/>
          </a:solidFill>
          <a:ln w="1460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/ Medicines
</a:t>
            </a:r>
            <a:pPr indent="0" marL="0">
              <a:buNone/>
            </a:pPr>
            <a:r>
              <a:rPr lang="en-US" sz="10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and track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079992" y="1600200"/>
            <a:ext cx="1170432" cy="1371600"/>
          </a:xfrm>
          <a:prstGeom prst="rect">
            <a:avLst/>
          </a:prstGeom>
          <a:solidFill>
            <a:srgbClr val="F5ECF7"/>
          </a:solidFill>
          <a:ln w="1460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Therapy
</a:t>
            </a:r>
            <a:pPr indent="0" marL="0">
              <a:buNone/>
            </a:pPr>
            <a:r>
              <a:rPr lang="en-US" sz="10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 sessions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0524744" y="1600200"/>
            <a:ext cx="1170432" cy="1371600"/>
          </a:xfrm>
          <a:prstGeom prst="rect">
            <a:avLst/>
          </a:prstGeom>
          <a:solidFill>
            <a:srgbClr val="EAF6FC"/>
          </a:solidFill>
          <a:ln w="1460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
</a:t>
            </a:r>
            <a:pPr indent="0" marL="0">
              <a:buNone/>
            </a:pPr>
            <a:r>
              <a:rPr lang="en-US" sz="10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review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14400" y="3794760"/>
            <a:ext cx="4983480" cy="1234440"/>
          </a:xfrm>
          <a:prstGeom prst="rect">
            <a:avLst/>
          </a:prstGeom>
          <a:solidFill>
            <a:srgbClr val="FFF3E4"/>
          </a:solidFill>
          <a:ln w="1460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it better
</a:t>
            </a:r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timeline across consultations, prescriptions, diagnostic reports, medicine orders, Panchakarma sessions, follow-ups, support tickets and payments.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309360" y="3794760"/>
            <a:ext cx="4983480" cy="1234440"/>
          </a:xfrm>
          <a:prstGeom prst="rect">
            <a:avLst/>
          </a:prstGeom>
          <a:solidFill>
            <a:srgbClr val="FFFFFF"/>
          </a:solidFill>
          <a:ln w="14605">
            <a:solidFill>
              <a:srgbClr val="C6007E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Assisted journey
</a:t>
            </a:r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can complete the same journey through support calls or WhatsApp-assisted flows for Tier-2/Tier-3 adoption.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02920" y="6519672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Doctor / Vaidya journey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An Ayurveda-specific clinical workspace, not a generic appointment calendar.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>
            <a:solidFill>
              <a:srgbClr val="F28A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85800" y="1508760"/>
            <a:ext cx="2468880" cy="1325880"/>
          </a:xfrm>
          <a:prstGeom prst="rect">
            <a:avLst/>
          </a:prstGeom>
          <a:solidFill>
            <a:srgbClr val="F5ECF7"/>
          </a:solidFill>
          <a:ln w="1460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Verify
</a:t>
            </a:r>
            <a:pPr indent="0" marL="0">
              <a:buNone/>
            </a:pPr>
            <a:r>
              <a:rPr lang="en-US" sz="14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Registration, qualification, specialty, license/registration and profile verification.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429000" y="1508760"/>
            <a:ext cx="2468880" cy="1325880"/>
          </a:xfrm>
          <a:prstGeom prst="rect">
            <a:avLst/>
          </a:prstGeom>
          <a:solidFill>
            <a:srgbClr val="EAF6FC"/>
          </a:solidFill>
          <a:ln w="1460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Consult
</a:t>
            </a:r>
            <a:pPr indent="0" marL="0">
              <a:buNone/>
            </a:pPr>
            <a:r>
              <a:rPr lang="en-US" sz="14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intake, upload reports, symptoms, history and previous treatment.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72200" y="1508760"/>
            <a:ext cx="2468880" cy="1325880"/>
          </a:xfrm>
          <a:prstGeom prst="rect">
            <a:avLst/>
          </a:prstGeom>
          <a:solidFill>
            <a:srgbClr val="FFF3E4"/>
          </a:solidFill>
          <a:ln w="1460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Assess
</a:t>
            </a:r>
            <a:pPr indent="0" marL="0">
              <a:buNone/>
            </a:pPr>
            <a:r>
              <a:rPr lang="en-US" sz="14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Prakriti, Vikriti, Agni, Koshta, diagnosis notes and conventional test context.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15400" y="1508760"/>
            <a:ext cx="2468880" cy="1325880"/>
          </a:xfrm>
          <a:prstGeom prst="rect">
            <a:avLst/>
          </a:prstGeom>
          <a:solidFill>
            <a:srgbClr val="FFFFFF"/>
          </a:solidFill>
          <a:ln w="14605">
            <a:solidFill>
              <a:srgbClr val="C6007E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Care Plan
</a:t>
            </a:r>
            <a:pPr indent="0" marL="0">
              <a:buNone/>
            </a:pPr>
            <a:r>
              <a:rPr lang="en-US" sz="14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Prescription, diet, lifestyle, tests, therapy recommendation, reminders and follow-up.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3703320"/>
            <a:ext cx="98298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4313A"/>
                </a:solidFill>
              </a:rPr>
              <a:t>• Doctor remains clinically accountable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34313A"/>
                </a:solidFill>
              </a:rPr>
              <a:t>• Support team coordinates, but does not provide medical advice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34313A"/>
                </a:solidFill>
              </a:rPr>
              <a:t>• Every prescription and change has audit trail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34313A"/>
                </a:solidFill>
              </a:rPr>
              <a:t>• Patient communication is multilingual but source record remains structured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02920" y="6519672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Partner network journeys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Pharmacies, labs and Panchakarma centres become part of one care workflow.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>
            <a:solidFill>
              <a:srgbClr val="F28A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2960" y="1554480"/>
            <a:ext cx="3291840" cy="1920240"/>
          </a:xfrm>
          <a:prstGeom prst="rect">
            <a:avLst/>
          </a:prstGeom>
          <a:solidFill>
            <a:srgbClr val="FFF3E4"/>
          </a:solidFill>
          <a:ln w="1460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Pharmacy
</a:t>
            </a:r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 prescription → validate stock → invoice → dispatch → delivery → refill reminder → settlement.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480560" y="1554480"/>
            <a:ext cx="3291840" cy="1920240"/>
          </a:xfrm>
          <a:prstGeom prst="rect">
            <a:avLst/>
          </a:prstGeom>
          <a:solidFill>
            <a:srgbClr val="EAF6FC"/>
          </a:solidFill>
          <a:ln w="1460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 Lab
</a:t>
            </a:r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 test order → schedule collection → process sample → upload report → alert doctor → settlement.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138160" y="1554480"/>
            <a:ext cx="3291840" cy="1920240"/>
          </a:xfrm>
          <a:prstGeom prst="rect">
            <a:avLst/>
          </a:prstGeom>
          <a:solidFill>
            <a:srgbClr val="F5ECF7"/>
          </a:solidFill>
          <a:ln w="1460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Panchakarma Centre
</a:t>
            </a:r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 referral → confirm slots → perform sessions → capture notes → doctor visibility → settlement.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931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6007E"/>
                </a:solidFill>
              </a:rPr>
              <a:t>Quality controls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68680" y="4416552"/>
            <a:ext cx="103327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4313A"/>
                </a:solidFill>
              </a:rPr>
              <a:t>• Credential/document verification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34313A"/>
                </a:solidFill>
              </a:rPr>
              <a:t>• SLA monitoring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34313A"/>
                </a:solidFill>
              </a:rPr>
              <a:t>• Complaint history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34313A"/>
                </a:solidFill>
              </a:rPr>
              <a:t>• Periodic audit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34313A"/>
                </a:solidFill>
              </a:rPr>
              <a:t>• Service catalogue control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02920" y="6519672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support, sales and technical operations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These modules are part of the product, not back-office afterthoughts.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>
            <a:solidFill>
              <a:srgbClr val="F28A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31520" y="1417320"/>
            <a:ext cx="3291840" cy="2834640"/>
          </a:xfrm>
          <a:prstGeom prst="rect">
            <a:avLst/>
          </a:prstGeom>
          <a:solidFill>
            <a:srgbClr val="F5ECF7"/>
          </a:solidFill>
          <a:ln w="1460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Support
</a:t>
            </a:r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360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Omnichannel tickets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 coordination queue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Refunds and complaints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base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434840" y="1417320"/>
            <a:ext cx="3291840" cy="2834640"/>
          </a:xfrm>
          <a:prstGeom prst="rect">
            <a:avLst/>
          </a:prstGeom>
          <a:solidFill>
            <a:srgbClr val="EAF6FC"/>
          </a:solidFill>
          <a:ln w="1460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&amp; Growth
</a:t>
            </a:r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leads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onboarding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pipeline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programs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Campaign conversion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138160" y="1417320"/>
            <a:ext cx="3291840" cy="2834640"/>
          </a:xfrm>
          <a:prstGeom prst="rect">
            <a:avLst/>
          </a:prstGeom>
          <a:solidFill>
            <a:srgbClr val="FFF3E4"/>
          </a:solidFill>
          <a:ln w="1460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Support / TechOps
</a:t>
            </a:r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management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health dashboard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notes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reconciliation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and access review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97280" y="4919472"/>
            <a:ext cx="9966960" cy="475488"/>
          </a:xfrm>
          <a:prstGeom prst="rect">
            <a:avLst/>
          </a:prstGeom>
          <a:solidFill>
            <a:srgbClr val="C6007E"/>
          </a:solidFill>
          <a:ln>
            <a:solidFill>
              <a:srgbClr val="C6007E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Every ticket links to patient, provider, order, Care Plan, SLA owner and audit trail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" y="6519672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 escalation model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Healthcare support needs priority, ownership and safety boundaries.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>
            <a:solidFill>
              <a:srgbClr val="F28A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48640" y="1664208"/>
            <a:ext cx="1847088" cy="1051560"/>
          </a:xfrm>
          <a:prstGeom prst="rect">
            <a:avLst/>
          </a:prstGeom>
          <a:solidFill>
            <a:srgbClr val="F5ECF7"/>
          </a:solidFill>
          <a:ln w="1460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L0
</a:t>
            </a:r>
            <a:pPr indent="0" marL="0">
              <a:buNone/>
            </a:pPr>
            <a:r>
              <a:rPr lang="en-US" sz="15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Self-service / AI FAQ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404872" y="20299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8A17"/>
                </a:solidFill>
              </a:rPr>
              <a:t>→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2852928" y="1664208"/>
            <a:ext cx="1847088" cy="1051560"/>
          </a:xfrm>
          <a:prstGeom prst="rect">
            <a:avLst/>
          </a:prstGeom>
          <a:solidFill>
            <a:srgbClr val="EAF6FC"/>
          </a:solidFill>
          <a:ln w="1460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
</a:t>
            </a:r>
            <a:pPr indent="0" marL="0">
              <a:buNone/>
            </a:pPr>
            <a:r>
              <a:rPr lang="en-US" sz="15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support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709160" y="20299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8A17"/>
                </a:solidFill>
              </a:rPr>
              <a:t>→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5157216" y="1664208"/>
            <a:ext cx="1847088" cy="1051560"/>
          </a:xfrm>
          <a:prstGeom prst="rect">
            <a:avLst/>
          </a:prstGeom>
          <a:solidFill>
            <a:srgbClr val="FFF3E4"/>
          </a:solidFill>
          <a:ln w="1460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L2
</a:t>
            </a:r>
            <a:pPr indent="0" marL="0">
              <a:buNone/>
            </a:pPr>
            <a:r>
              <a:rPr lang="en-US" sz="15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 coordination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013448" y="20299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8A17"/>
                </a:solidFill>
              </a:rPr>
              <a:t>→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461504" y="1664208"/>
            <a:ext cx="1847088" cy="1051560"/>
          </a:xfrm>
          <a:prstGeom prst="rect">
            <a:avLst/>
          </a:prstGeom>
          <a:solidFill>
            <a:srgbClr val="F5ECF7"/>
          </a:solidFill>
          <a:ln w="14605">
            <a:solidFill>
              <a:srgbClr val="C6007E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L3
</a:t>
            </a:r>
            <a:pPr indent="0" marL="0">
              <a:buNone/>
            </a:pPr>
            <a:r>
              <a:rPr lang="en-US" sz="15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TechOps / Engineering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317736" y="20299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8A17"/>
                </a:solidFill>
              </a:rPr>
              <a:t>→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9765792" y="1664208"/>
            <a:ext cx="1847088" cy="1051560"/>
          </a:xfrm>
          <a:prstGeom prst="rect">
            <a:avLst/>
          </a:prstGeom>
          <a:solidFill>
            <a:srgbClr val="EAF6FC"/>
          </a:solidFill>
          <a:ln w="14605">
            <a:solidFill>
              <a:srgbClr val="1F8B73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8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
</a:t>
            </a:r>
            <a:pPr indent="0" marL="0">
              <a:buNone/>
            </a:pPr>
            <a:r>
              <a:rPr lang="en-US" sz="15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/ clinical governance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51560" y="3703320"/>
            <a:ext cx="4663440" cy="1691640"/>
          </a:xfrm>
          <a:prstGeom prst="rect">
            <a:avLst/>
          </a:prstGeom>
          <a:solidFill>
            <a:srgbClr val="FFFFFF"/>
          </a:solidFill>
          <a:ln w="14605">
            <a:solidFill>
              <a:srgbClr val="B5474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B54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rules
</a:t>
            </a:r>
            <a:pPr indent="0" marL="0">
              <a:buNone/>
            </a:pPr>
            <a:r>
              <a:rPr lang="en-US" sz="15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P1: outage, sensitive data, urgent safety complaint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P2: blocked consults, missing reports, SLA breach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P3: refund, booking, profile correction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P4: general query or feature request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355080" y="3703320"/>
            <a:ext cx="4663440" cy="1691640"/>
          </a:xfrm>
          <a:prstGeom prst="rect">
            <a:avLst/>
          </a:prstGeom>
          <a:solidFill>
            <a:srgbClr val="F5ECF7"/>
          </a:solidFill>
          <a:ln w="1460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rule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coordinates care and escalations. It should not diagnose, change treatment or provide medical advice outside the assigned practitioner workflow.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technical architecture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Start modular; avoid overbuilding before the city pilot proves demand.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>
            <a:solidFill>
              <a:srgbClr val="F28A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1874520" cy="530352"/>
          </a:xfrm>
          <a:prstGeom prst="rect">
            <a:avLst/>
          </a:prstGeom>
          <a:solidFill>
            <a:srgbClr val="812A86"/>
          </a:solidFill>
          <a:ln>
            <a:solidFill>
              <a:srgbClr val="812A8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Experience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788920" y="1417320"/>
            <a:ext cx="8412480" cy="530352"/>
          </a:xfrm>
          <a:prstGeom prst="rect">
            <a:avLst/>
          </a:prstGeom>
          <a:solidFill>
            <a:srgbClr val="F5ECF7"/>
          </a:solidFill>
          <a:ln w="10160">
            <a:solidFill>
              <a:srgbClr val="812A86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</a:rPr>
              <a:t>Patient PWA / Doctor Portal / Partner Portal / Admin &amp; Support Console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" y="2267712"/>
            <a:ext cx="1874520" cy="530352"/>
          </a:xfrm>
          <a:prstGeom prst="rect">
            <a:avLst/>
          </a:prstGeom>
          <a:solidFill>
            <a:srgbClr val="2D94C6"/>
          </a:solidFill>
          <a:ln>
            <a:solidFill>
              <a:srgbClr val="2D94C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API &amp; Auth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788920" y="2267712"/>
            <a:ext cx="8412480" cy="530352"/>
          </a:xfrm>
          <a:prstGeom prst="rect">
            <a:avLst/>
          </a:prstGeom>
          <a:solidFill>
            <a:srgbClr val="EAF6FC"/>
          </a:solidFill>
          <a:ln w="10160">
            <a:solidFill>
              <a:srgbClr val="2D94C6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</a:rPr>
              <a:t>API Gateway / RBAC / Consent / Notifications / Video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85800" y="3118104"/>
            <a:ext cx="1874520" cy="530352"/>
          </a:xfrm>
          <a:prstGeom prst="rect">
            <a:avLst/>
          </a:prstGeom>
          <a:solidFill>
            <a:srgbClr val="F28A17"/>
          </a:solidFill>
          <a:ln>
            <a:solidFill>
              <a:srgbClr val="F28A17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Core Services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2788920" y="3118104"/>
            <a:ext cx="8412480" cy="530352"/>
          </a:xfrm>
          <a:prstGeom prst="rect">
            <a:avLst/>
          </a:prstGeom>
          <a:solidFill>
            <a:srgbClr val="FFF3E4"/>
          </a:solidFill>
          <a:ln w="10160">
            <a:solidFill>
              <a:srgbClr val="F28A17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</a:rPr>
              <a:t>Appointments / Consultations / Care Plans / Orders / Tickets / Settlements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5800" y="3968496"/>
            <a:ext cx="1874520" cy="530352"/>
          </a:xfrm>
          <a:prstGeom prst="rect">
            <a:avLst/>
          </a:prstGeom>
          <a:solidFill>
            <a:srgbClr val="C6007E"/>
          </a:solidFill>
          <a:ln>
            <a:solidFill>
              <a:srgbClr val="C6007E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Data &amp; Security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788920" y="3968496"/>
            <a:ext cx="8412480" cy="530352"/>
          </a:xfrm>
          <a:prstGeom prst="rect">
            <a:avLst/>
          </a:prstGeom>
          <a:solidFill>
            <a:srgbClr val="F5ECF7"/>
          </a:solidFill>
          <a:ln w="10160">
            <a:solidFill>
              <a:srgbClr val="C6007E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</a:rPr>
              <a:t>Transactional DB / Object Storage / Audit Logs / Monitoring / Backup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85800" y="4818888"/>
            <a:ext cx="1874520" cy="530352"/>
          </a:xfrm>
          <a:prstGeom prst="rect">
            <a:avLst/>
          </a:prstGeom>
          <a:solidFill>
            <a:srgbClr val="1F8B73"/>
          </a:solidFill>
          <a:ln>
            <a:solidFill>
              <a:srgbClr val="1F8B73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Integrations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2788920" y="4818888"/>
            <a:ext cx="8412480" cy="530352"/>
          </a:xfrm>
          <a:prstGeom prst="rect">
            <a:avLst/>
          </a:prstGeom>
          <a:solidFill>
            <a:srgbClr val="EAF8F4"/>
          </a:solidFill>
          <a:ln w="10160">
            <a:solidFill>
              <a:srgbClr val="1F8B73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</a:rPr>
              <a:t>Payments / Logistics / Labs / WhatsApp / ABDM-ready / Analytics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02920" y="6519672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Commercial mechanics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Blend marketplace revenue with SaaS and care-program revenue.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>
            <a:solidFill>
              <a:srgbClr val="F28A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85800" y="1463040"/>
            <a:ext cx="3291840" cy="2194560"/>
          </a:xfrm>
          <a:prstGeom prst="rect">
            <a:avLst/>
          </a:prstGeom>
          <a:solidFill>
            <a:srgbClr val="F5ECF7"/>
          </a:solidFill>
          <a:ln w="1460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revenue
</a:t>
            </a:r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Consultation fees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Medicine fulfilment margin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 booking fee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Panchakarma referral/booking fee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434840" y="1463040"/>
            <a:ext cx="3291840" cy="2194560"/>
          </a:xfrm>
          <a:prstGeom prst="rect">
            <a:avLst/>
          </a:prstGeom>
          <a:solidFill>
            <a:srgbClr val="EAF6FC"/>
          </a:solidFill>
          <a:ln w="1460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Subscription revenue
</a:t>
            </a:r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Pro plan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 management tools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dashboard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wellness programs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183880" y="1463040"/>
            <a:ext cx="3291840" cy="2194560"/>
          </a:xfrm>
          <a:prstGeom prst="rect">
            <a:avLst/>
          </a:prstGeom>
          <a:solidFill>
            <a:srgbClr val="FFF3E4"/>
          </a:solidFill>
          <a:ln w="1460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Trust-based upsell
</a:t>
            </a:r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 coordination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programs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profiles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International patient support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43000" y="44074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007E"/>
                </a:solidFill>
              </a:rPr>
              <a:t>Commercial guardrail: monetization must not distort clinical recommendations.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02920" y="6519672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90-day pilot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Prove the care journey in one city before scaling.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>
            <a:solidFill>
              <a:srgbClr val="F28A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31520" y="1463040"/>
            <a:ext cx="3337560" cy="1600200"/>
          </a:xfrm>
          <a:prstGeom prst="rect">
            <a:avLst/>
          </a:prstGeom>
          <a:solidFill>
            <a:srgbClr val="F5ECF7"/>
          </a:solidFill>
          <a:ln w="1460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geography
</a:t>
            </a:r>
            <a:pPr indent="0" marL="0">
              <a:buNone/>
            </a:pPr>
            <a:r>
              <a:rPr lang="en-US" sz="14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city/region with manageable provider density and strong local operations access.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434840" y="1463040"/>
            <a:ext cx="3337560" cy="1600200"/>
          </a:xfrm>
          <a:prstGeom prst="rect">
            <a:avLst/>
          </a:prstGeom>
          <a:solidFill>
            <a:srgbClr val="EAF6FC"/>
          </a:solidFill>
          <a:ln w="1460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Supply target
</a:t>
            </a:r>
            <a:pPr indent="0" marL="0">
              <a:buNone/>
            </a:pPr>
            <a:r>
              <a:rPr lang="en-US" sz="14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20-30 Vaidyas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2-3 labs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2-3 pharmacies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5-8 Panchakarma centres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support desk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38160" y="1463040"/>
            <a:ext cx="3337560" cy="1600200"/>
          </a:xfrm>
          <a:prstGeom prst="rect">
            <a:avLst/>
          </a:prstGeom>
          <a:solidFill>
            <a:srgbClr val="FFF3E4"/>
          </a:solidFill>
          <a:ln w="1460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needed
</a:t>
            </a:r>
            <a:pPr indent="0" marL="0">
              <a:buNone/>
            </a:pPr>
            <a:r>
              <a:rPr lang="en-US" sz="14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Bookings completed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 Plan adherence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SLA stability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quality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consultations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3886200"/>
            <a:ext cx="1024128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4313A"/>
                </a:solidFill>
              </a:rPr>
              <a:t>• Do not optimise for downloads first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34313A"/>
                </a:solidFill>
              </a:rPr>
              <a:t>• Optimise for completed care journeys and reliable fulfilment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34313A"/>
                </a:solidFill>
              </a:rPr>
              <a:t>• Capture support cost and refund leakage from day one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02920" y="6519672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Development sprints: MVP foundation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2-week sprints; build the smallest reliable end-to-end care journey first.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>
            <a:solidFill>
              <a:srgbClr val="F28A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85800" y="1463040"/>
            <a:ext cx="2514600" cy="1417320"/>
          </a:xfrm>
          <a:prstGeom prst="rect">
            <a:avLst/>
          </a:prstGeom>
          <a:solidFill>
            <a:srgbClr val="F5ECF7"/>
          </a:solidFill>
          <a:ln w="1460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 — Discovery
</a:t>
            </a:r>
            <a:pPr indent="0" marL="0">
              <a:buNone/>
            </a:pPr>
            <a:r>
              <a:rPr lang="en-US" sz="15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PRD, workflows, data model, architecture runway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520440" y="1463040"/>
            <a:ext cx="2514600" cy="1417320"/>
          </a:xfrm>
          <a:prstGeom prst="rect">
            <a:avLst/>
          </a:prstGeom>
          <a:solidFill>
            <a:srgbClr val="EAF6FC"/>
          </a:solidFill>
          <a:ln w="1460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 — Platform
</a:t>
            </a:r>
            <a:pPr indent="0" marL="0">
              <a:buNone/>
            </a:pPr>
            <a:r>
              <a:rPr lang="en-US" sz="15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RBAC, environments, design system, CI/CD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355080" y="1463040"/>
            <a:ext cx="2514600" cy="1417320"/>
          </a:xfrm>
          <a:prstGeom prst="rect">
            <a:avLst/>
          </a:prstGeom>
          <a:solidFill>
            <a:srgbClr val="F5ECF7"/>
          </a:solidFill>
          <a:ln w="1460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— Patient
</a:t>
            </a:r>
            <a:pPr indent="0" marL="0">
              <a:buNone/>
            </a:pPr>
            <a:r>
              <a:rPr lang="en-US" sz="15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Registration, intake, discovery, consent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89720" y="1463040"/>
            <a:ext cx="2514600" cy="1417320"/>
          </a:xfrm>
          <a:prstGeom prst="rect">
            <a:avLst/>
          </a:prstGeom>
          <a:solidFill>
            <a:srgbClr val="EAF6FC"/>
          </a:solidFill>
          <a:ln w="1460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S3 — Doctor
</a:t>
            </a:r>
            <a:pPr indent="0" marL="0">
              <a:buNone/>
            </a:pPr>
            <a:r>
              <a:rPr lang="en-US" sz="15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Verification, profile, availability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3520440"/>
            <a:ext cx="2514600" cy="1417320"/>
          </a:xfrm>
          <a:prstGeom prst="rect">
            <a:avLst/>
          </a:prstGeom>
          <a:solidFill>
            <a:srgbClr val="F5ECF7"/>
          </a:solidFill>
          <a:ln w="1460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— Booking
</a:t>
            </a:r>
            <a:pPr indent="0" marL="0">
              <a:buNone/>
            </a:pPr>
            <a:r>
              <a:rPr lang="en-US" sz="15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Slots, payment, reminders, video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520440" y="3520440"/>
            <a:ext cx="2514600" cy="1417320"/>
          </a:xfrm>
          <a:prstGeom prst="rect">
            <a:avLst/>
          </a:prstGeom>
          <a:solidFill>
            <a:srgbClr val="EAF6FC"/>
          </a:solidFill>
          <a:ln w="1460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S5 — Care Plan
</a:t>
            </a:r>
            <a:pPr indent="0" marL="0">
              <a:buNone/>
            </a:pPr>
            <a:r>
              <a:rPr lang="en-US" sz="15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Notes, prescription, tasks, follow-up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55080" y="3520440"/>
            <a:ext cx="2514600" cy="1417320"/>
          </a:xfrm>
          <a:prstGeom prst="rect">
            <a:avLst/>
          </a:prstGeom>
          <a:solidFill>
            <a:srgbClr val="F5ECF7"/>
          </a:solidFill>
          <a:ln w="1460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S6 — Medicines
</a:t>
            </a:r>
            <a:pPr indent="0" marL="0">
              <a:buNone/>
            </a:pPr>
            <a:r>
              <a:rPr lang="en-US" sz="15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Pharmacy order, tracking, refill reminders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2920" y="6519672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Development sprints: operations and network expansion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Add support, admin, diagnostics, Panchakarma and hardening before pilot scale.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>
            <a:solidFill>
              <a:srgbClr val="F28A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77240" y="1554480"/>
            <a:ext cx="3200400" cy="1508760"/>
          </a:xfrm>
          <a:prstGeom prst="rect">
            <a:avLst/>
          </a:prstGeom>
          <a:solidFill>
            <a:srgbClr val="EAF6FC"/>
          </a:solidFill>
          <a:ln w="1460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— Support CRM
</a:t>
            </a:r>
            <a:pPr indent="0" marL="0">
              <a:buNone/>
            </a:pPr>
            <a:r>
              <a:rPr lang="en-US" sz="15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360, tickets, SLA, sales leads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480560" y="1554480"/>
            <a:ext cx="3200400" cy="1508760"/>
          </a:xfrm>
          <a:prstGeom prst="rect">
            <a:avLst/>
          </a:prstGeom>
          <a:solidFill>
            <a:srgbClr val="FFF3E4"/>
          </a:solidFill>
          <a:ln w="1460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S8 — Admin/Ops
</a:t>
            </a:r>
            <a:pPr indent="0" marL="0">
              <a:buNone/>
            </a:pPr>
            <a:r>
              <a:rPr lang="en-US" sz="15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Pricing, refunds, settlements, dashboards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183880" y="1554480"/>
            <a:ext cx="3200400" cy="1508760"/>
          </a:xfrm>
          <a:prstGeom prst="rect">
            <a:avLst/>
          </a:prstGeom>
          <a:solidFill>
            <a:srgbClr val="EAF6FC"/>
          </a:solidFill>
          <a:ln w="1460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S9 — Diagnostics
</a:t>
            </a:r>
            <a:pPr indent="0" marL="0">
              <a:buNone/>
            </a:pPr>
            <a:r>
              <a:rPr lang="en-US" sz="15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booking, collection, report upload, doctor alert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77240" y="3703320"/>
            <a:ext cx="3200400" cy="1508760"/>
          </a:xfrm>
          <a:prstGeom prst="rect">
            <a:avLst/>
          </a:prstGeom>
          <a:solidFill>
            <a:srgbClr val="FFF3E4"/>
          </a:solidFill>
          <a:ln w="1460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S10 — Panchakarma
</a:t>
            </a:r>
            <a:pPr indent="0" marL="0">
              <a:buNone/>
            </a:pPr>
            <a:r>
              <a:rPr lang="en-US" sz="15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Centre onboarding, referral, sessions, notes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480560" y="3703320"/>
            <a:ext cx="3200400" cy="1508760"/>
          </a:xfrm>
          <a:prstGeom prst="rect">
            <a:avLst/>
          </a:prstGeom>
          <a:solidFill>
            <a:srgbClr val="EAF6FC"/>
          </a:solidFill>
          <a:ln w="1460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S11 — Security
</a:t>
            </a:r>
            <a:pPr indent="0" marL="0">
              <a:buNone/>
            </a:pPr>
            <a:r>
              <a:rPr lang="en-US" sz="15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Consent, audit, backup, monitoring, privacy hardening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183880" y="3703320"/>
            <a:ext cx="3200400" cy="1508760"/>
          </a:xfrm>
          <a:prstGeom prst="rect">
            <a:avLst/>
          </a:prstGeom>
          <a:solidFill>
            <a:srgbClr val="FFF3E4"/>
          </a:solidFill>
          <a:ln w="1460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S12 — Beta Launch
</a:t>
            </a:r>
            <a:pPr indent="0" marL="0">
              <a:buNone/>
            </a:pPr>
            <a:r>
              <a:rPr lang="en-US" sz="15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UAT fixes, training, launch dashboard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02920" y="6519672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Delivery governance and release gates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Clear gates prevent a healthcare product from becoming an uncontrolled build.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>
            <a:solidFill>
              <a:srgbClr val="F28A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3291840" cy="1097280"/>
          </a:xfrm>
          <a:prstGeom prst="rect">
            <a:avLst/>
          </a:prstGeom>
          <a:solidFill>
            <a:srgbClr val="F5ECF7"/>
          </a:solidFill>
          <a:ln w="1460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gate
</a:t>
            </a:r>
            <a:pPr indent="0" marL="0">
              <a:buNone/>
            </a:pPr>
            <a:r>
              <a:rPr lang="en-US" sz="15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patient, doctor, admin and support flows work end-to-end in UAT.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434840" y="1417320"/>
            <a:ext cx="3291840" cy="1097280"/>
          </a:xfrm>
          <a:prstGeom prst="rect">
            <a:avLst/>
          </a:prstGeom>
          <a:solidFill>
            <a:srgbClr val="EAF6FC"/>
          </a:solidFill>
          <a:ln w="1460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safety gate
</a:t>
            </a:r>
            <a:pPr indent="0" marL="0">
              <a:buNone/>
            </a:pPr>
            <a:r>
              <a:rPr lang="en-US" sz="15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Escalation, prescription boundaries and support scripts are approved.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83880" y="1417320"/>
            <a:ext cx="3291840" cy="1097280"/>
          </a:xfrm>
          <a:prstGeom prst="rect">
            <a:avLst/>
          </a:prstGeom>
          <a:solidFill>
            <a:srgbClr val="FFF3E4"/>
          </a:solidFill>
          <a:ln w="1460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gate
</a:t>
            </a:r>
            <a:pPr indent="0" marL="0">
              <a:buNone/>
            </a:pPr>
            <a:r>
              <a:rPr lang="en-US" sz="15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Consent, access control, audit, backup and incident response verified.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2971800"/>
            <a:ext cx="3291840" cy="1097280"/>
          </a:xfrm>
          <a:prstGeom prst="rect">
            <a:avLst/>
          </a:prstGeom>
          <a:solidFill>
            <a:srgbClr val="FFFFFF"/>
          </a:solidFill>
          <a:ln w="14605">
            <a:solidFill>
              <a:srgbClr val="C6007E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gate
</a:t>
            </a:r>
            <a:pPr indent="0" marL="0">
              <a:buNone/>
            </a:pPr>
            <a:r>
              <a:rPr lang="en-US" sz="15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trained, partner SOPs live and city pilot roster approved.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434840" y="2971800"/>
            <a:ext cx="3291840" cy="1097280"/>
          </a:xfrm>
          <a:prstGeom prst="rect">
            <a:avLst/>
          </a:prstGeom>
          <a:solidFill>
            <a:srgbClr val="FFFFFF"/>
          </a:solidFill>
          <a:ln w="14605">
            <a:solidFill>
              <a:srgbClr val="1F8B73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8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gate
</a:t>
            </a:r>
            <a:pPr indent="0" marL="0">
              <a:buNone/>
            </a:pPr>
            <a:r>
              <a:rPr lang="en-US" sz="15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Pricing, refund rules, settlements and unit economics tracker approved.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183880" y="2971800"/>
            <a:ext cx="3291840" cy="1097280"/>
          </a:xfrm>
          <a:prstGeom prst="rect">
            <a:avLst/>
          </a:prstGeom>
          <a:solidFill>
            <a:srgbClr val="FFFFFF"/>
          </a:solidFill>
          <a:ln w="1460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Expansion gate
</a:t>
            </a:r>
            <a:pPr indent="0" marL="0">
              <a:buNone/>
            </a:pPr>
            <a:r>
              <a:rPr lang="en-US" sz="15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CSAT, SLA, repeat consultation and partner quality show stable trend.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2920" y="6519672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risks and controls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Trust is the strongest brand moat in digital health.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>
            <a:solidFill>
              <a:srgbClr val="F28A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77240" y="1463040"/>
            <a:ext cx="3291840" cy="1874520"/>
          </a:xfrm>
          <a:prstGeom prst="rect">
            <a:avLst/>
          </a:prstGeom>
          <a:solidFill>
            <a:srgbClr val="F5ECF7"/>
          </a:solidFill>
          <a:ln w="1460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risk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verified practitioners diagnose/prescribe. Support and AI coordinate but do not make clinical decisions.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434840" y="1463040"/>
            <a:ext cx="3291840" cy="1874520"/>
          </a:xfrm>
          <a:prstGeom prst="rect">
            <a:avLst/>
          </a:prstGeom>
          <a:solidFill>
            <a:srgbClr val="EAF6FC"/>
          </a:solidFill>
          <a:ln w="1460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risk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Consent, role-based access, audit logs, encryption, backups and privacy-by-design from day one.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92440" y="1463040"/>
            <a:ext cx="3291840" cy="1874520"/>
          </a:xfrm>
          <a:prstGeom prst="rect">
            <a:avLst/>
          </a:prstGeom>
          <a:solidFill>
            <a:srgbClr val="FFF3E4"/>
          </a:solidFill>
          <a:ln w="1460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risk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 verification, partner audits, complaints, SLA monitoring and controlled service catalogues.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194560" y="3977640"/>
            <a:ext cx="7818120" cy="1097280"/>
          </a:xfrm>
          <a:prstGeom prst="rect">
            <a:avLst/>
          </a:prstGeom>
          <a:solidFill>
            <a:srgbClr val="FFFFFF"/>
          </a:solidFill>
          <a:ln w="14605">
            <a:solidFill>
              <a:srgbClr val="C6007E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risk
</a:t>
            </a:r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2-week sprints, strict MVP scope, release gates and a controlled city pilot to reduce cost and rework.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02920" y="6519672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decisions for ABIES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Move from blueprint to executable PRD and pilot.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>
            <a:solidFill>
              <a:srgbClr val="F28A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77240" y="1463040"/>
            <a:ext cx="3291840" cy="1417320"/>
          </a:xfrm>
          <a:prstGeom prst="rect">
            <a:avLst/>
          </a:prstGeom>
          <a:solidFill>
            <a:srgbClr val="F5ECF7"/>
          </a:solidFill>
          <a:ln w="1460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Choose pilot city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one geography with accessible doctors, labs, pharmacies and Panchakarma centres.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434840" y="1463040"/>
            <a:ext cx="3291840" cy="1417320"/>
          </a:xfrm>
          <a:prstGeom prst="rect">
            <a:avLst/>
          </a:prstGeom>
          <a:solidFill>
            <a:srgbClr val="EAF6FC"/>
          </a:solidFill>
          <a:ln w="1460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Approve MVP scope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PWA, doctor portal, support CRM, admin console, medicines first.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92440" y="1463040"/>
            <a:ext cx="3291840" cy="1417320"/>
          </a:xfrm>
          <a:prstGeom prst="rect">
            <a:avLst/>
          </a:prstGeom>
          <a:solidFill>
            <a:srgbClr val="FFF3E4"/>
          </a:solidFill>
          <a:ln w="1460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Start PRD + UX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blueprint into screens, fields, workflows, APIs and acceptance criteria.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103120" y="3703320"/>
            <a:ext cx="3749040" cy="1280160"/>
          </a:xfrm>
          <a:prstGeom prst="rect">
            <a:avLst/>
          </a:prstGeom>
          <a:solidFill>
            <a:srgbClr val="FFFFFF"/>
          </a:solidFill>
          <a:ln w="14605">
            <a:solidFill>
              <a:srgbClr val="C6007E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Onboard advisors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advisor, legal/privacy advisor, operations lead and technology lead.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309360" y="3703320"/>
            <a:ext cx="3749040" cy="1280160"/>
          </a:xfrm>
          <a:prstGeom prst="rect">
            <a:avLst/>
          </a:prstGeom>
          <a:solidFill>
            <a:srgbClr val="FFFFFF"/>
          </a:solidFill>
          <a:ln w="14605">
            <a:solidFill>
              <a:srgbClr val="1F8B73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8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Build sprint 0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design validation, backlog, architecture runway and vendor estimates.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" y="6519672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Founder and product planning deck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ABIES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ABIES Ayurveda Integrated Care Platform</dc:title>
  <dc:subject>ABIES Ayurveda Integrated Care Platform</dc:subject>
  <dc:creator>OpenAI</dc:creator>
  <cp:lastModifiedBy>OpenAI</cp:lastModifiedBy>
  <cp:revision>1</cp:revision>
  <dcterms:created xsi:type="dcterms:W3CDTF">2026-09-22T11:52:53Z</dcterms:created>
  <dcterms:modified xsi:type="dcterms:W3CDTF">2026-09-22T11:52:53Z</dcterms:modified>
</cp:coreProperties>
</file>