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IES_MASTER">
    <p:bg>
      <p:bgPr>
        <a:solidFill>
          <a:srgbClr val="FA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384048"/>
            <a:ext cx="2788920" cy="1755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331720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Stack &amp; Platform</a:t>
            </a:r>
            <a:endParaRPr lang="en-US" sz="4300" dirty="0"/>
          </a:p>
          <a:p>
            <a:pPr algn="ctr" indent="0" marL="0">
              <a:buNone/>
            </a:pPr>
            <a:r>
              <a:rPr lang="en-US" sz="43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1005840" y="35935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A17"/>
                </a:solidFill>
              </a:rPr>
              <a:t>Ayurveda Integrated Care Platform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800600" y="4224528"/>
            <a:ext cx="2606040" cy="384048"/>
          </a:xfrm>
          <a:prstGeom prst="rect">
            <a:avLst/>
          </a:prstGeom>
          <a:solidFill>
            <a:srgbClr val="C6007E"/>
          </a:solidFill>
          <a:ln>
            <a:solidFill>
              <a:srgbClr val="C600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Prepared for ABIES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645920" y="4846320"/>
            <a:ext cx="8915400" cy="96012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
</a:t>
            </a:r>
            <a:pPr indent="0" marL="0">
              <a:buNone/>
            </a:pPr>
            <a:r>
              <a:rPr lang="en-US" sz="17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recommended technology stack, deployment model, integrations, security controls, DevOps pipeline and development sprint plan for the ABIES Ayurveda care platform.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Confidential technology planning deck | September 2026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design principles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The platform should be modular, secure, scalable and MVP-friendly.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81328"/>
            <a:ext cx="3429000" cy="141732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lean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reliable PWA + portals before investing in heavy native mobile apps.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389120" y="1481328"/>
            <a:ext cx="3429000" cy="141732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for healthcare trust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consent, audit logs, encryption and access controls from day one.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92440" y="1481328"/>
            <a:ext cx="3429000" cy="141732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Integrate, do not reinvent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payment, logistics, video, WhatsApp, SMS and lab integrations where possible.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51560" y="3703320"/>
            <a:ext cx="4709160" cy="1188720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growth path
</a:t>
            </a:r>
            <a:pPr indent="0" marL="0">
              <a:buNone/>
            </a:pPr>
            <a:r>
              <a:rPr lang="en-US" sz="16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can start on containers and scale into Kubernetes/OpenShift when demand matures.</a:t>
            </a:r>
            <a:endParaRPr lang="en-US" sz="1680" dirty="0"/>
          </a:p>
        </p:txBody>
      </p:sp>
      <p:sp>
        <p:nvSpPr>
          <p:cNvPr id="10" name="Text 7"/>
          <p:cNvSpPr/>
          <p:nvPr/>
        </p:nvSpPr>
        <p:spPr>
          <a:xfrm>
            <a:off x="6446520" y="3703320"/>
            <a:ext cx="4709160" cy="1188720"/>
          </a:xfrm>
          <a:prstGeom prst="rect">
            <a:avLst/>
          </a:prstGeom>
          <a:solidFill>
            <a:srgbClr val="FFFFFF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
</a:t>
            </a:r>
            <a:pPr indent="0" marL="0">
              <a:buNone/>
            </a:pPr>
            <a:r>
              <a:rPr lang="en-US" sz="16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order, booking, ticket, partner SLA and incident should be traceable.</a:t>
            </a:r>
            <a:endParaRPr lang="en-US" sz="168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landscape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 single platform with multiple role-specific experiences.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17320"/>
            <a:ext cx="1920240" cy="603504"/>
          </a:xfrm>
          <a:prstGeom prst="rect">
            <a:avLst/>
          </a:prstGeom>
          <a:solidFill>
            <a:srgbClr val="812A86"/>
          </a:solidFill>
          <a:ln>
            <a:solidFill>
              <a:srgbClr val="812A8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Patient PWA/App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788920" y="1417320"/>
            <a:ext cx="8732520" cy="603504"/>
          </a:xfrm>
          <a:prstGeom prst="rect">
            <a:avLst/>
          </a:prstGeom>
          <a:solidFill>
            <a:srgbClr val="F5ECF7"/>
          </a:solidFill>
          <a:ln w="10160">
            <a:solidFill>
              <a:srgbClr val="812A8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Registration, health profile, discovery, booking, Care Plan, orders, reports, support</a:t>
            </a:r>
            <a:endParaRPr lang="en-US" sz="1470" dirty="0"/>
          </a:p>
        </p:txBody>
      </p:sp>
      <p:sp>
        <p:nvSpPr>
          <p:cNvPr id="8" name="Text 5"/>
          <p:cNvSpPr/>
          <p:nvPr/>
        </p:nvSpPr>
        <p:spPr>
          <a:xfrm>
            <a:off x="685800" y="2276856"/>
            <a:ext cx="1920240" cy="603504"/>
          </a:xfrm>
          <a:prstGeom prst="rect">
            <a:avLst/>
          </a:prstGeom>
          <a:solidFill>
            <a:srgbClr val="2D94C6"/>
          </a:solidFill>
          <a:ln>
            <a:solidFill>
              <a:srgbClr val="2D94C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Doctor Portal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788920" y="2276856"/>
            <a:ext cx="8732520" cy="603504"/>
          </a:xfrm>
          <a:prstGeom prst="rect">
            <a:avLst/>
          </a:prstGeom>
          <a:solidFill>
            <a:srgbClr val="EAF6FC"/>
          </a:solidFill>
          <a:ln w="10160">
            <a:solidFill>
              <a:srgbClr val="2D94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Verification, availability, consultation, assessment, prescription, follow-up</a:t>
            </a:r>
            <a:endParaRPr lang="en-US" sz="1470" dirty="0"/>
          </a:p>
        </p:txBody>
      </p:sp>
      <p:sp>
        <p:nvSpPr>
          <p:cNvPr id="10" name="Text 7"/>
          <p:cNvSpPr/>
          <p:nvPr/>
        </p:nvSpPr>
        <p:spPr>
          <a:xfrm>
            <a:off x="685800" y="3136392"/>
            <a:ext cx="1920240" cy="603504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Partner Portals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788920" y="3136392"/>
            <a:ext cx="8732520" cy="603504"/>
          </a:xfrm>
          <a:prstGeom prst="rect">
            <a:avLst/>
          </a:prstGeom>
          <a:solidFill>
            <a:srgbClr val="FFF3E4"/>
          </a:solidFill>
          <a:ln w="10160">
            <a:solidFill>
              <a:srgbClr val="F28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Pharmacy, lab and Panchakarma operations with SLA and settlements</a:t>
            </a:r>
            <a:endParaRPr lang="en-US" sz="1470" dirty="0"/>
          </a:p>
        </p:txBody>
      </p:sp>
      <p:sp>
        <p:nvSpPr>
          <p:cNvPr id="12" name="Text 9"/>
          <p:cNvSpPr/>
          <p:nvPr/>
        </p:nvSpPr>
        <p:spPr>
          <a:xfrm>
            <a:off x="685800" y="3995928"/>
            <a:ext cx="1920240" cy="603504"/>
          </a:xfrm>
          <a:prstGeom prst="rect">
            <a:avLst/>
          </a:prstGeom>
          <a:solidFill>
            <a:srgbClr val="C6007E"/>
          </a:solidFill>
          <a:ln>
            <a:solidFill>
              <a:srgbClr val="C600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Admin Console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2788920" y="3995928"/>
            <a:ext cx="8732520" cy="603504"/>
          </a:xfrm>
          <a:prstGeom prst="rect">
            <a:avLst/>
          </a:prstGeom>
          <a:solidFill>
            <a:srgbClr val="F5ECF7"/>
          </a:solidFill>
          <a:ln w="10160">
            <a:solidFill>
              <a:srgbClr val="C600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Master data, pricing, user management, quality, audits, dashboards</a:t>
            </a:r>
            <a:endParaRPr lang="en-US" sz="1470" dirty="0"/>
          </a:p>
        </p:txBody>
      </p:sp>
      <p:sp>
        <p:nvSpPr>
          <p:cNvPr id="14" name="Text 11"/>
          <p:cNvSpPr/>
          <p:nvPr/>
        </p:nvSpPr>
        <p:spPr>
          <a:xfrm>
            <a:off x="685800" y="4855464"/>
            <a:ext cx="1920240" cy="603504"/>
          </a:xfrm>
          <a:prstGeom prst="rect">
            <a:avLst/>
          </a:prstGeom>
          <a:solidFill>
            <a:srgbClr val="1F8B73"/>
          </a:solidFill>
          <a:ln>
            <a:solidFill>
              <a:srgbClr val="1F8B7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Support CRM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788920" y="4855464"/>
            <a:ext cx="8732520" cy="603504"/>
          </a:xfrm>
          <a:prstGeom prst="rect">
            <a:avLst/>
          </a:prstGeom>
          <a:solidFill>
            <a:srgbClr val="EAF8F4"/>
          </a:solidFill>
          <a:ln w="10160">
            <a:solidFill>
              <a:srgbClr val="1F8B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Customer 360, sales pipeline, tickets, escalations, refunds and TechOps</a:t>
            </a:r>
            <a:endParaRPr lang="en-US" sz="1470" dirty="0"/>
          </a:p>
        </p:txBody>
      </p:sp>
      <p:sp>
        <p:nvSpPr>
          <p:cNvPr id="16" name="Text 13"/>
          <p:cNvSpPr/>
          <p:nvPr/>
        </p:nvSpPr>
        <p:spPr>
          <a:xfrm>
            <a:off x="1325880" y="5870448"/>
            <a:ext cx="9418320" cy="384048"/>
          </a:xfrm>
          <a:prstGeom prst="rect">
            <a:avLst/>
          </a:prstGeom>
          <a:solidFill>
            <a:srgbClr val="812A86"/>
          </a:solidFill>
          <a:ln>
            <a:solidFill>
              <a:srgbClr val="812A8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Common services: Identity • RBAC • Consent • Notifications • Payments • Audit • Analytics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architecture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Recommended logical architecture for the ABIES platform.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2258568"/>
            <a:ext cx="123444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8183880" y="2258568"/>
            <a:ext cx="123444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989320" y="2852928"/>
            <a:ext cx="0" cy="850392"/>
          </a:xfrm>
          <a:prstGeom prst="line">
            <a:avLst/>
          </a:prstGeom>
          <a:noFill/>
          <a:ln w="16510">
            <a:solidFill>
              <a:srgbClr val="2D94C6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989320" y="4370832"/>
            <a:ext cx="0" cy="566928"/>
          </a:xfrm>
          <a:prstGeom prst="line">
            <a:avLst/>
          </a:prstGeom>
          <a:noFill/>
          <a:ln w="16510">
            <a:solidFill>
              <a:srgbClr val="2D94C6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685800" y="1572768"/>
            <a:ext cx="2331720" cy="150876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Layer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PWA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Portal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Portals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Support/Admin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794760" y="1783080"/>
            <a:ext cx="2514600" cy="1078992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7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
</a:t>
            </a:r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rate limits, routing, versioning, request audit</a:t>
            </a:r>
            <a:endParaRPr lang="en-US" sz="1470" dirty="0"/>
          </a:p>
        </p:txBody>
      </p:sp>
      <p:sp>
        <p:nvSpPr>
          <p:cNvPr id="12" name="Text 9"/>
          <p:cNvSpPr/>
          <p:nvPr/>
        </p:nvSpPr>
        <p:spPr>
          <a:xfrm>
            <a:off x="6583680" y="1783080"/>
            <a:ext cx="2514600" cy="1078992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7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Services
</a:t>
            </a:r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Appointments, consultation, Care Plan, orders, tickets, settlements</a:t>
            </a:r>
            <a:endParaRPr lang="en-US" sz="1470" dirty="0"/>
          </a:p>
        </p:txBody>
      </p:sp>
      <p:sp>
        <p:nvSpPr>
          <p:cNvPr id="13" name="Text 10"/>
          <p:cNvSpPr/>
          <p:nvPr/>
        </p:nvSpPr>
        <p:spPr>
          <a:xfrm>
            <a:off x="9372600" y="1572768"/>
            <a:ext cx="2331720" cy="1508760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Systems
</a:t>
            </a:r>
            <a:pPr indent="0" marL="0">
              <a:buNone/>
            </a:pPr>
            <a:r>
              <a:rPr lang="en-US" sz="14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Razorpay, logistics, WhatsApp, SMS, video, labs, ABDM-ready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3657600" y="3703320"/>
            <a:ext cx="4663440" cy="777240"/>
          </a:xfrm>
          <a:prstGeom prst="rect">
            <a:avLst/>
          </a:prstGeom>
          <a:solidFill>
            <a:srgbClr val="FFFFFF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Platform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PostgreSQL, Redis, object storage, search, backups, analytics warehouse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17520" y="5102352"/>
            <a:ext cx="5989320" cy="804672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/ Container Platform
</a:t>
            </a:r>
            <a:pPr indent="0" marL="0">
              <a:buNone/>
            </a:pPr>
            <a:r>
              <a:rPr lang="en-US" sz="15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Docker, Kubernetes/OpenShift path, CI/CD, monitoring, logs, WAF and secrets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Build fast web/PWA experiences first, then add native mobile when usage proves it.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481328"/>
            <a:ext cx="3383280" cy="192024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MVP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React + TypeScript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Web App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UI for mobile and desktop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34840" y="1481328"/>
            <a:ext cx="3383280" cy="192024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system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ABIES design system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components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basics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ready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1481328"/>
            <a:ext cx="3383280" cy="192024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mobile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Native or Flutter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app first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app only after portal usage is validated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80160" y="4069080"/>
            <a:ext cx="9601200" cy="1234440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PWA first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Lower development cost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Works across Android/iOS/desktop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Easy pilot iteration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app-store dependency during MVP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and API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Use a structured backend framework to handle healthcare workflows safely.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17320"/>
            <a:ext cx="3474720" cy="205740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backend
</a:t>
            </a:r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+ NestJS + TypeScript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APIs first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OpenAPI/Swagger documentation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workers for async tasks</a:t>
            </a:r>
            <a:endParaRPr lang="en-US" sz="1630" dirty="0"/>
          </a:p>
        </p:txBody>
      </p:sp>
      <p:sp>
        <p:nvSpPr>
          <p:cNvPr id="7" name="Text 4"/>
          <p:cNvSpPr/>
          <p:nvPr/>
        </p:nvSpPr>
        <p:spPr>
          <a:xfrm>
            <a:off x="4370832" y="1417320"/>
            <a:ext cx="3474720" cy="205740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domains
</a:t>
            </a:r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&amp; RBAC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Consultations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Plans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Settlements</a:t>
            </a:r>
            <a:endParaRPr lang="en-US" sz="1630" dirty="0"/>
          </a:p>
        </p:txBody>
      </p:sp>
      <p:sp>
        <p:nvSpPr>
          <p:cNvPr id="8" name="Text 5"/>
          <p:cNvSpPr/>
          <p:nvPr/>
        </p:nvSpPr>
        <p:spPr>
          <a:xfrm>
            <a:off x="8065008" y="1417320"/>
            <a:ext cx="3474720" cy="205740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discipline
</a:t>
            </a:r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APIs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for payments/orders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logging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layer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events</a:t>
            </a:r>
            <a:endParaRPr lang="en-US" sz="1630" dirty="0"/>
          </a:p>
        </p:txBody>
      </p:sp>
      <p:sp>
        <p:nvSpPr>
          <p:cNvPr id="9" name="Text 6"/>
          <p:cNvSpPr/>
          <p:nvPr/>
        </p:nvSpPr>
        <p:spPr>
          <a:xfrm>
            <a:off x="1874520" y="4315968"/>
            <a:ext cx="8412480" cy="868680"/>
          </a:xfrm>
          <a:prstGeom prst="rect">
            <a:avLst/>
          </a:prstGeom>
          <a:solidFill>
            <a:srgbClr val="FFFFFF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option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FastAPI can also work well for AI-heavy or data-heavy services, but NestJS is cleaner for the main transactional platform.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storage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Separate transactional, document, cache and analytics needs.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417320"/>
            <a:ext cx="1920240" cy="566928"/>
          </a:xfrm>
          <a:prstGeom prst="rect">
            <a:avLst/>
          </a:prstGeom>
          <a:solidFill>
            <a:srgbClr val="812A86"/>
          </a:solidFill>
          <a:ln>
            <a:solidFill>
              <a:srgbClr val="812A8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PostgreSQL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926080" y="1417320"/>
            <a:ext cx="8503920" cy="566928"/>
          </a:xfrm>
          <a:prstGeom prst="rect">
            <a:avLst/>
          </a:prstGeom>
          <a:solidFill>
            <a:srgbClr val="F5ECF7"/>
          </a:solidFill>
          <a:ln w="10160">
            <a:solidFill>
              <a:srgbClr val="812A8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Core relational database for users, bookings, orders, tickets and Care Plans</a:t>
            </a:r>
            <a:endParaRPr lang="en-US" sz="1470" dirty="0"/>
          </a:p>
        </p:txBody>
      </p:sp>
      <p:sp>
        <p:nvSpPr>
          <p:cNvPr id="8" name="Text 5"/>
          <p:cNvSpPr/>
          <p:nvPr/>
        </p:nvSpPr>
        <p:spPr>
          <a:xfrm>
            <a:off x="822960" y="2267712"/>
            <a:ext cx="1920240" cy="566928"/>
          </a:xfrm>
          <a:prstGeom prst="rect">
            <a:avLst/>
          </a:prstGeom>
          <a:solidFill>
            <a:srgbClr val="2D94C6"/>
          </a:solidFill>
          <a:ln>
            <a:solidFill>
              <a:srgbClr val="2D94C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Redis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926080" y="2267712"/>
            <a:ext cx="8503920" cy="566928"/>
          </a:xfrm>
          <a:prstGeom prst="rect">
            <a:avLst/>
          </a:prstGeom>
          <a:solidFill>
            <a:srgbClr val="EAF6FC"/>
          </a:solidFill>
          <a:ln w="10160">
            <a:solidFill>
              <a:srgbClr val="2D94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Cache, sessions, rate limits, queues and temporary OTP state</a:t>
            </a:r>
            <a:endParaRPr lang="en-US" sz="1470" dirty="0"/>
          </a:p>
        </p:txBody>
      </p:sp>
      <p:sp>
        <p:nvSpPr>
          <p:cNvPr id="10" name="Text 7"/>
          <p:cNvSpPr/>
          <p:nvPr/>
        </p:nvSpPr>
        <p:spPr>
          <a:xfrm>
            <a:off x="822960" y="3118104"/>
            <a:ext cx="1920240" cy="566928"/>
          </a:xfrm>
          <a:prstGeom prst="rect">
            <a:avLst/>
          </a:prstGeom>
          <a:solidFill>
            <a:srgbClr val="F28A17"/>
          </a:solidFill>
          <a:ln>
            <a:solidFill>
              <a:srgbClr val="F28A1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Object Storage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926080" y="3118104"/>
            <a:ext cx="8503920" cy="566928"/>
          </a:xfrm>
          <a:prstGeom prst="rect">
            <a:avLst/>
          </a:prstGeom>
          <a:solidFill>
            <a:srgbClr val="FFF3E4"/>
          </a:solidFill>
          <a:ln w="10160">
            <a:solidFill>
              <a:srgbClr val="F28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Reports, prescriptions, invoices, images and consent artefacts</a:t>
            </a:r>
            <a:endParaRPr lang="en-US" sz="1470" dirty="0"/>
          </a:p>
        </p:txBody>
      </p:sp>
      <p:sp>
        <p:nvSpPr>
          <p:cNvPr id="12" name="Text 9"/>
          <p:cNvSpPr/>
          <p:nvPr/>
        </p:nvSpPr>
        <p:spPr>
          <a:xfrm>
            <a:off x="822960" y="3968496"/>
            <a:ext cx="1920240" cy="566928"/>
          </a:xfrm>
          <a:prstGeom prst="rect">
            <a:avLst/>
          </a:prstGeom>
          <a:solidFill>
            <a:srgbClr val="C6007E"/>
          </a:solidFill>
          <a:ln>
            <a:solidFill>
              <a:srgbClr val="C600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Search Index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2926080" y="3968496"/>
            <a:ext cx="8503920" cy="566928"/>
          </a:xfrm>
          <a:prstGeom prst="rect">
            <a:avLst/>
          </a:prstGeom>
          <a:solidFill>
            <a:srgbClr val="F5ECF7"/>
          </a:solidFill>
          <a:ln w="10160">
            <a:solidFill>
              <a:srgbClr val="C6007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Doctor, medicine, city, service and support-ticket search</a:t>
            </a:r>
            <a:endParaRPr lang="en-US" sz="1470" dirty="0"/>
          </a:p>
        </p:txBody>
      </p:sp>
      <p:sp>
        <p:nvSpPr>
          <p:cNvPr id="14" name="Text 11"/>
          <p:cNvSpPr/>
          <p:nvPr/>
        </p:nvSpPr>
        <p:spPr>
          <a:xfrm>
            <a:off x="822960" y="4818888"/>
            <a:ext cx="1920240" cy="566928"/>
          </a:xfrm>
          <a:prstGeom prst="rect">
            <a:avLst/>
          </a:prstGeom>
          <a:solidFill>
            <a:srgbClr val="1F8B73"/>
          </a:solidFill>
          <a:ln>
            <a:solidFill>
              <a:srgbClr val="1F8B7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Analytics Store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926080" y="4818888"/>
            <a:ext cx="8503920" cy="566928"/>
          </a:xfrm>
          <a:prstGeom prst="rect">
            <a:avLst/>
          </a:prstGeom>
          <a:solidFill>
            <a:srgbClr val="EAF8F4"/>
          </a:solidFill>
          <a:ln w="10160">
            <a:solidFill>
              <a:srgbClr val="1F8B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34313A"/>
                </a:solidFill>
              </a:rPr>
              <a:t>Funnels, KPIs, partner SLA, cohort, revenue and support analytics</a:t>
            </a:r>
            <a:endParaRPr lang="en-US" sz="1470" dirty="0"/>
          </a:p>
        </p:txBody>
      </p:sp>
      <p:sp>
        <p:nvSpPr>
          <p:cNvPr id="16" name="Text 13"/>
          <p:cNvSpPr/>
          <p:nvPr/>
        </p:nvSpPr>
        <p:spPr>
          <a:xfrm>
            <a:off x="1417320" y="5870448"/>
            <a:ext cx="9372600" cy="384048"/>
          </a:xfrm>
          <a:prstGeom prst="rect">
            <a:avLst/>
          </a:prstGeom>
          <a:solidFill>
            <a:srgbClr val="B54747"/>
          </a:solidFill>
          <a:ln>
            <a:solidFill>
              <a:srgbClr val="B5474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</a:rPr>
              <a:t>Important: health data needs strict access control, retention policy, audit and encryption</a:t>
            </a:r>
            <a:endParaRPr lang="en-US" sz="1330" dirty="0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Integrations should be wrapped through internal adapter services to avoid vendor lock-in.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417320"/>
            <a:ext cx="2148840" cy="114300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/ UPI / refunds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47288" y="1417320"/>
            <a:ext cx="2148840" cy="114300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Shiprocket or courier APIs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36208" y="1417320"/>
            <a:ext cx="2148840" cy="114300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WhatsApp, SMS, email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025128" y="1417320"/>
            <a:ext cx="2148840" cy="1143000"/>
          </a:xfrm>
          <a:prstGeom prst="rect">
            <a:avLst/>
          </a:prstGeom>
          <a:solidFill>
            <a:srgbClr val="F5ECF7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video provider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3108960"/>
            <a:ext cx="2148840" cy="1143000"/>
          </a:xfrm>
          <a:prstGeom prst="rect">
            <a:avLst/>
          </a:prstGeom>
          <a:solidFill>
            <a:srgbClr val="EAF8F4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booking + report upload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447288" y="3108960"/>
            <a:ext cx="2148840" cy="114300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ABDM-ready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ABHA/consent/FHIR path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36208" y="3108960"/>
            <a:ext cx="2148840" cy="114300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and centre discovery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025128" y="3108960"/>
            <a:ext cx="2148840" cy="114300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
</a:t>
            </a:r>
            <a:pPr indent="0" marL="0">
              <a:buNone/>
            </a:pPr>
            <a:r>
              <a:rPr lang="en-US" sz="13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Events, attribution, cohorts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51560" y="4709160"/>
            <a:ext cx="10058400" cy="841248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pattern
</a:t>
            </a:r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internal adapters: ABIES APIs should call payment/logistics/video/lab adapters, not vendor APIs directly from the product code. This keeps the platform replaceable and easier to test.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Identity, security and consent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Security must be designed into the product, not added after launch.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17320"/>
            <a:ext cx="2560320" cy="219456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login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password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profiles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Doctor/partner verification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MFA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20440" y="1417320"/>
            <a:ext cx="2560320" cy="219456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Tenant/partner boundaries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Break-glass admin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55080" y="1417320"/>
            <a:ext cx="2560320" cy="219456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&amp; audit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records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Data-access audit trail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 change history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and order timeline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89720" y="1417320"/>
            <a:ext cx="2331720" cy="2194560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everywhere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at rest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manager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WAF/rate limits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restore tests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00200" y="4434840"/>
            <a:ext cx="8961120" cy="438912"/>
          </a:xfrm>
          <a:prstGeom prst="rect">
            <a:avLst/>
          </a:prstGeom>
          <a:solidFill>
            <a:srgbClr val="B54747"/>
          </a:solidFill>
          <a:ln>
            <a:solidFill>
              <a:srgbClr val="B5474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Support and AI must never override practitioner decisions or change prescriptions.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and deployment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Keep MVP cost manageable while preserving a clear scale path.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417320"/>
            <a:ext cx="3154680" cy="224028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1: MVP
</a:t>
            </a:r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cloud account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Dockerized services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PostgreSQL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storage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CDN + WAF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backup</a:t>
            </a:r>
            <a:endParaRPr lang="en-US" sz="1570" dirty="0"/>
          </a:p>
        </p:txBody>
      </p:sp>
      <p:sp>
        <p:nvSpPr>
          <p:cNvPr id="7" name="Text 4"/>
          <p:cNvSpPr/>
          <p:nvPr/>
        </p:nvSpPr>
        <p:spPr>
          <a:xfrm>
            <a:off x="4526280" y="1417320"/>
            <a:ext cx="3154680" cy="224028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2: Pilot scale
</a:t>
            </a:r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orchestration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staging/prod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logs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workers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processing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Autoscaling-ready</a:t>
            </a:r>
            <a:endParaRPr lang="en-US" sz="1570" dirty="0"/>
          </a:p>
        </p:txBody>
      </p:sp>
      <p:sp>
        <p:nvSpPr>
          <p:cNvPr id="8" name="Text 5"/>
          <p:cNvSpPr/>
          <p:nvPr/>
        </p:nvSpPr>
        <p:spPr>
          <a:xfrm>
            <a:off x="8275320" y="1417320"/>
            <a:ext cx="3154680" cy="224028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3: Growth
</a:t>
            </a:r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Kubernetes/OpenShift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mesh optional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Multi-AZ database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runbooks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observability</a:t>
            </a:r>
            <a:endParaRPr lang="en-US" sz="1570" dirty="0"/>
          </a:p>
        </p:txBody>
      </p:sp>
      <p:sp>
        <p:nvSpPr>
          <p:cNvPr id="9" name="Text 6"/>
          <p:cNvSpPr/>
          <p:nvPr/>
        </p:nvSpPr>
        <p:spPr>
          <a:xfrm>
            <a:off x="1234440" y="4434840"/>
            <a:ext cx="9601200" cy="868680"/>
          </a:xfrm>
          <a:prstGeom prst="rect">
            <a:avLst/>
          </a:prstGeom>
          <a:solidFill>
            <a:srgbClr val="FFFFFF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start with over-complex microservices. Start as a modular monolith with clear module boundaries, then split services only when scale or teams require it.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DevOps and CI/CD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Automate build, test, security checks and controlled releases.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20240" y="2212848"/>
            <a:ext cx="45720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594360" y="1719072"/>
            <a:ext cx="1325880" cy="96012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
</a:t>
            </a:r>
            <a:pPr indent="0" marL="0">
              <a:buNone/>
            </a:pPr>
            <a:r>
              <a:rPr lang="en-US" sz="13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/ GitLab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3822192" y="2212848"/>
            <a:ext cx="45720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2496312" y="1719072"/>
            <a:ext cx="1325880" cy="96012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
</a:t>
            </a:r>
            <a:pPr indent="0" marL="0">
              <a:buNone/>
            </a:pPr>
            <a:r>
              <a:rPr lang="en-US" sz="13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</a:t>
            </a:r>
            <a:endParaRPr lang="en-US" sz="1340" dirty="0"/>
          </a:p>
        </p:txBody>
      </p:sp>
      <p:sp>
        <p:nvSpPr>
          <p:cNvPr id="10" name="Shape 7"/>
          <p:cNvSpPr/>
          <p:nvPr/>
        </p:nvSpPr>
        <p:spPr>
          <a:xfrm>
            <a:off x="5724144" y="2212848"/>
            <a:ext cx="45720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398264" y="1719072"/>
            <a:ext cx="1325880" cy="96012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
</a:t>
            </a:r>
            <a:pPr indent="0" marL="0">
              <a:buNone/>
            </a:pPr>
            <a:r>
              <a:rPr lang="en-US" sz="13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+ API + UI</a:t>
            </a:r>
            <a:endParaRPr lang="en-US" sz="1340" dirty="0"/>
          </a:p>
        </p:txBody>
      </p:sp>
      <p:sp>
        <p:nvSpPr>
          <p:cNvPr id="12" name="Shape 9"/>
          <p:cNvSpPr/>
          <p:nvPr/>
        </p:nvSpPr>
        <p:spPr>
          <a:xfrm>
            <a:off x="7626096" y="2212848"/>
            <a:ext cx="45720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300216" y="1719072"/>
            <a:ext cx="1325880" cy="96012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
</a:t>
            </a:r>
            <a:pPr indent="0" marL="0">
              <a:buNone/>
            </a:pPr>
            <a:r>
              <a:rPr lang="en-US" sz="13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SAST + dependency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9528048" y="2212848"/>
            <a:ext cx="45720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202168" y="1719072"/>
            <a:ext cx="1325880" cy="96012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
</a:t>
            </a:r>
            <a:pPr indent="0" marL="0">
              <a:buNone/>
            </a:pPr>
            <a:r>
              <a:rPr lang="en-US" sz="13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→ Prod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10104120" y="1719072"/>
            <a:ext cx="1325880" cy="96012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
</a:t>
            </a:r>
            <a:pPr indent="0" marL="0">
              <a:buNone/>
            </a:pPr>
            <a:r>
              <a:rPr lang="en-US" sz="13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+ alerts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914400" y="3794760"/>
            <a:ext cx="4983480" cy="1691640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pipeline controls
</a:t>
            </a:r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 review and branch protection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Automated migrations with rollback plan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Environment-specific secrets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Smoke tests after deployment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Release notes and change approval for production</a:t>
            </a:r>
            <a:endParaRPr lang="en-US" sz="1580" dirty="0"/>
          </a:p>
        </p:txBody>
      </p:sp>
      <p:sp>
        <p:nvSpPr>
          <p:cNvPr id="18" name="Text 15"/>
          <p:cNvSpPr/>
          <p:nvPr/>
        </p:nvSpPr>
        <p:spPr>
          <a:xfrm>
            <a:off x="6309360" y="3794760"/>
            <a:ext cx="4983480" cy="1691640"/>
          </a:xfrm>
          <a:prstGeom prst="rect">
            <a:avLst/>
          </a:prstGeom>
          <a:solidFill>
            <a:srgbClr val="FFFFFF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tools
</a:t>
            </a:r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GitHub/GitLab CI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Terraform optional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Helm/Kustomize for Kubernetes phase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SonarQube/Snyk or equivalent scanning</a:t>
            </a:r>
            <a:endParaRPr lang="en-US" sz="1580" dirty="0"/>
          </a:p>
        </p:txBody>
      </p:sp>
      <p:sp>
        <p:nvSpPr>
          <p:cNvPr id="19" name="Text 16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and TechOps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Support teams need product visibility, not just server metrics.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17320"/>
            <a:ext cx="3383280" cy="182880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monitoring
</a:t>
            </a:r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latency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rate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failures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failures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session issues</a:t>
            </a:r>
            <a:endParaRPr lang="en-US" sz="1620" dirty="0"/>
          </a:p>
        </p:txBody>
      </p:sp>
      <p:sp>
        <p:nvSpPr>
          <p:cNvPr id="7" name="Text 4"/>
          <p:cNvSpPr/>
          <p:nvPr/>
        </p:nvSpPr>
        <p:spPr>
          <a:xfrm>
            <a:off x="4434840" y="1417320"/>
            <a:ext cx="3383280" cy="182880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monitoring
</a:t>
            </a:r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funnel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SLA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report delay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volume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breach</a:t>
            </a:r>
            <a:endParaRPr lang="en-US" sz="1620" dirty="0"/>
          </a:p>
        </p:txBody>
      </p:sp>
      <p:sp>
        <p:nvSpPr>
          <p:cNvPr id="8" name="Text 5"/>
          <p:cNvSpPr/>
          <p:nvPr/>
        </p:nvSpPr>
        <p:spPr>
          <a:xfrm>
            <a:off x="8183880" y="1417320"/>
            <a:ext cx="3383280" cy="182880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monitoring
</a:t>
            </a:r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backlog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time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count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CSAT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complaints</a:t>
            </a:r>
            <a:endParaRPr lang="en-US" sz="1620" dirty="0"/>
          </a:p>
        </p:txBody>
      </p:sp>
      <p:sp>
        <p:nvSpPr>
          <p:cNvPr id="9" name="Text 6"/>
          <p:cNvSpPr/>
          <p:nvPr/>
        </p:nvSpPr>
        <p:spPr>
          <a:xfrm>
            <a:off x="1417320" y="4206240"/>
            <a:ext cx="9372600" cy="841248"/>
          </a:xfrm>
          <a:prstGeom prst="rect">
            <a:avLst/>
          </a:prstGeom>
          <a:solidFill>
            <a:srgbClr val="FFFFFF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Tooling recommendation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OpenTelemetry + Prometheus/Grafana + Loki/ELK + alert routing. Use dashboards for both TechOps and business operations.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Support, sales and CRM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Customer-support technology should be connected to the care journey.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417320"/>
            <a:ext cx="2926080" cy="242316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CRM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queues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notes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workflows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86200" y="1417320"/>
            <a:ext cx="2926080" cy="242316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CRM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leads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onboarding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leads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attribution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tracking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0880" y="1417320"/>
            <a:ext cx="2926080" cy="242316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TechOps console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queue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status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history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reconciliation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review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approvals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4572000"/>
            <a:ext cx="9921240" cy="804672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vs buy
</a:t>
            </a:r>
            <a:pPr indent="0" marL="0">
              <a:buNone/>
            </a:pPr>
            <a:r>
              <a:rPr lang="en-US" sz="15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MVP, use an integrated admin/support console inside ABIES. If support volume grows, integrate Freshdesk/Zendesk/Zoho while keeping the patient timeline in ABIES.</a:t>
            </a:r>
            <a:endParaRPr lang="en-US" sz="158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and automation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Use AI as an assistant, not as an independent medical decision-maker.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17320"/>
            <a:ext cx="3337560" cy="214884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AI use cases
</a:t>
            </a:r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summarisation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notes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reminders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triage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extraction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</a:t>
            </a:r>
            <a:endParaRPr lang="en-US" sz="1640" dirty="0"/>
          </a:p>
        </p:txBody>
      </p:sp>
      <p:sp>
        <p:nvSpPr>
          <p:cNvPr id="7" name="Text 4"/>
          <p:cNvSpPr/>
          <p:nvPr/>
        </p:nvSpPr>
        <p:spPr>
          <a:xfrm>
            <a:off x="4434840" y="1417320"/>
            <a:ext cx="3337560" cy="214884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Human-in-loop controls
</a:t>
            </a:r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approves clinical notes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autonomous diagnosis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prescription changes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scripts reviewed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all AI outputs</a:t>
            </a:r>
            <a:endParaRPr lang="en-US" sz="1640" dirty="0"/>
          </a:p>
        </p:txBody>
      </p:sp>
      <p:sp>
        <p:nvSpPr>
          <p:cNvPr id="8" name="Text 5"/>
          <p:cNvSpPr/>
          <p:nvPr/>
        </p:nvSpPr>
        <p:spPr>
          <a:xfrm>
            <a:off x="8183880" y="1417320"/>
            <a:ext cx="3337560" cy="214884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
</a:t>
            </a:r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rule-based workflows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LLM features later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prompt templates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source references</a:t>
            </a:r>
            <a:endParaRPr lang="en-US" sz="1640" dirty="0"/>
          </a:p>
          <a:p>
            <a:pPr indent="0" marL="0">
              <a:buNone/>
            </a:pPr>
            <a:r>
              <a:rPr lang="en-US" sz="164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hallucination risk</a:t>
            </a:r>
            <a:endParaRPr lang="en-US" sz="1640" dirty="0"/>
          </a:p>
        </p:txBody>
      </p:sp>
      <p:sp>
        <p:nvSpPr>
          <p:cNvPr id="9" name="Text 6"/>
          <p:cNvSpPr/>
          <p:nvPr/>
        </p:nvSpPr>
        <p:spPr>
          <a:xfrm>
            <a:off x="1417320" y="4480560"/>
            <a:ext cx="9372600" cy="438912"/>
          </a:xfrm>
          <a:prstGeom prst="rect">
            <a:avLst/>
          </a:prstGeom>
          <a:solidFill>
            <a:srgbClr val="C6007E"/>
          </a:solidFill>
          <a:ln>
            <a:solidFill>
              <a:srgbClr val="C600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Principle: AI may prepare, summarise and remind. A verified practitioner decides.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Define quality targets before the build starts.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463040"/>
            <a:ext cx="3246120" cy="132588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99.5% MVP target; higher after paid scale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434840" y="1463040"/>
            <a:ext cx="3246120" cy="132588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pages &lt; 3 sec on 4G-like networks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138160" y="1463040"/>
            <a:ext cx="3246120" cy="132588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for admins, encryption, audit and secure SDLC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3246120" cy="1325880"/>
          </a:xfrm>
          <a:prstGeom prst="rect">
            <a:avLst/>
          </a:prstGeom>
          <a:solidFill>
            <a:srgbClr val="F5ECF7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Consent, retention, access logs and deletion workflows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434840" y="3429000"/>
            <a:ext cx="3246120" cy="1325880"/>
          </a:xfrm>
          <a:prstGeom prst="rect">
            <a:avLst/>
          </a:prstGeom>
          <a:solidFill>
            <a:srgbClr val="EAF8F4"/>
          </a:solidFill>
          <a:ln w="13335">
            <a:solidFill>
              <a:srgbClr val="1F8B7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8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monolith now; service split later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138160" y="3429000"/>
            <a:ext cx="3246120" cy="1325880"/>
          </a:xfrm>
          <a:prstGeom prst="rect">
            <a:avLst/>
          </a:prstGeom>
          <a:solidFill>
            <a:srgbClr val="FFF0F0"/>
          </a:solidFill>
          <a:ln w="13335">
            <a:solidFill>
              <a:srgbClr val="B5474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B54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Recoverability
</a:t>
            </a:r>
            <a:pPr indent="0" marL="0">
              <a:buNone/>
            </a:pPr>
            <a:r>
              <a:rPr lang="en-US" sz="16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backup; restore test before launch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strategy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Separate development, testing and production early to reduce operational risk.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45920"/>
            <a:ext cx="2377440" cy="182880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branches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testing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integrations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data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2450592"/>
            <a:ext cx="68580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4069080" y="1645920"/>
            <a:ext cx="2377440" cy="182880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UAT/STAGING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testing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Real-like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payments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training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37960" y="2450592"/>
            <a:ext cx="685800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7406640" y="1645920"/>
            <a:ext cx="2377440" cy="182880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releases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process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4297680"/>
            <a:ext cx="9692640" cy="868680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7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
</a:t>
            </a:r>
            <a:pPr indent="0" marL="0">
              <a:buNone/>
            </a:pPr>
            <a:r>
              <a:rPr lang="en-US" sz="167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 production database changes without approved runbook. Every release needs migration plan, rollback plan, smoke test and release note.</a:t>
            </a:r>
            <a:endParaRPr lang="en-US" sz="167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team and toolchain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 focused team can build the MVP without excessive overhead.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371600"/>
            <a:ext cx="3337560" cy="283464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team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Owner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Architect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 Designer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Engineer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Engineer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Engineer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DevOps/Cloud Engineer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34840" y="1371600"/>
            <a:ext cx="3337560" cy="283464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Clinical/ops advisors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Ayurveda doctor advisor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Panchakarma operations advisor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lead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Privacy/legal advisor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onboarding lead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92440" y="1371600"/>
            <a:ext cx="3337560" cy="283464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tools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Jira/Linear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GitHub/GitLab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Notion/Confluence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4873752"/>
            <a:ext cx="9372600" cy="411480"/>
          </a:xfrm>
          <a:prstGeom prst="rect">
            <a:avLst/>
          </a:prstGeom>
          <a:solidFill>
            <a:srgbClr val="812A86"/>
          </a:solidFill>
          <a:ln>
            <a:solidFill>
              <a:srgbClr val="812A8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One owner for product backlog, one owner for architecture, one owner for clinical safety.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sprint plan: foundation to first care journey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2-week sprints; scope should stay focused on the first reliable journey.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463040"/>
            <a:ext cx="3246120" cy="150876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 — Discovery &amp; PRD
</a:t>
            </a:r>
            <a:pPr indent="0" marL="0">
              <a:buNone/>
            </a:pPr>
            <a:r>
              <a:rPr lang="en-US" sz="15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stories, workflows, data model, architecture runway</a:t>
            </a:r>
            <a:endParaRPr lang="en-US" sz="1520" dirty="0"/>
          </a:p>
        </p:txBody>
      </p:sp>
      <p:sp>
        <p:nvSpPr>
          <p:cNvPr id="7" name="Text 4"/>
          <p:cNvSpPr/>
          <p:nvPr/>
        </p:nvSpPr>
        <p:spPr>
          <a:xfrm>
            <a:off x="4425696" y="1463040"/>
            <a:ext cx="3246120" cy="150876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 — Platform foundation
</a:t>
            </a:r>
            <a:pPr indent="0" marL="0">
              <a:buNone/>
            </a:pPr>
            <a:r>
              <a:rPr lang="en-US" sz="15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Repo, CI/CD, design system, auth, RBAC skeleton</a:t>
            </a:r>
            <a:endParaRPr lang="en-US" sz="1520" dirty="0"/>
          </a:p>
        </p:txBody>
      </p:sp>
      <p:sp>
        <p:nvSpPr>
          <p:cNvPr id="8" name="Text 5"/>
          <p:cNvSpPr/>
          <p:nvPr/>
        </p:nvSpPr>
        <p:spPr>
          <a:xfrm>
            <a:off x="8138160" y="1463040"/>
            <a:ext cx="3246120" cy="150876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— Patient PWA
</a:t>
            </a:r>
            <a:pPr indent="0" marL="0">
              <a:buNone/>
            </a:pPr>
            <a:r>
              <a:rPr lang="en-US" sz="15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profile, intake, doctor discovery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713232" y="3611880"/>
            <a:ext cx="3246120" cy="150876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— Doctor Portal
</a:t>
            </a:r>
            <a:pPr indent="0" marL="0">
              <a:buNone/>
            </a:pPr>
            <a:r>
              <a:rPr lang="en-US" sz="15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Verification, profile, slots, patient list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4425696" y="3611880"/>
            <a:ext cx="3246120" cy="150876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— Booking &amp; Payment
</a:t>
            </a:r>
            <a:pPr indent="0" marL="0">
              <a:buNone/>
            </a:pPr>
            <a:r>
              <a:rPr lang="en-US" sz="15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Appointments, reminders, Razorpay, video setup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8138160" y="3611880"/>
            <a:ext cx="3246120" cy="150876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 — Consult &amp; Care Plan
</a:t>
            </a:r>
            <a:pPr indent="0" marL="0">
              <a:buNone/>
            </a:pPr>
            <a:r>
              <a:rPr lang="en-US" sz="152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Notes, prescription, care tasks, follow-up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sprint plan: operations and partner network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Add fulfilment, support, diagnostics, Panchakarma and launch hardening.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389888"/>
            <a:ext cx="2542032" cy="155448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S6 — Medicine fulfilment
</a:t>
            </a:r>
            <a:pPr indent="0" marL="0">
              <a:buNone/>
            </a:pPr>
            <a:r>
              <a:rPr lang="en-US" sz="13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 portal, prescription order, delivery tracking</a:t>
            </a:r>
            <a:endParaRPr lang="en-US" sz="1380" dirty="0"/>
          </a:p>
        </p:txBody>
      </p:sp>
      <p:sp>
        <p:nvSpPr>
          <p:cNvPr id="7" name="Text 4"/>
          <p:cNvSpPr/>
          <p:nvPr/>
        </p:nvSpPr>
        <p:spPr>
          <a:xfrm>
            <a:off x="3383280" y="1389888"/>
            <a:ext cx="2542032" cy="155448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— Support &amp; CRM
</a:t>
            </a:r>
            <a:pPr indent="0" marL="0">
              <a:buNone/>
            </a:pPr>
            <a:r>
              <a:rPr lang="en-US" sz="13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360, tickets, SLA, sales pipeline</a:t>
            </a:r>
            <a:endParaRPr lang="en-US" sz="1380" dirty="0"/>
          </a:p>
        </p:txBody>
      </p:sp>
      <p:sp>
        <p:nvSpPr>
          <p:cNvPr id="8" name="Text 5"/>
          <p:cNvSpPr/>
          <p:nvPr/>
        </p:nvSpPr>
        <p:spPr>
          <a:xfrm>
            <a:off x="6263640" y="1389888"/>
            <a:ext cx="2542032" cy="155448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S8 — Admin/Ops
</a:t>
            </a:r>
            <a:pPr indent="0" marL="0">
              <a:buNone/>
            </a:pPr>
            <a:r>
              <a:rPr lang="en-US" sz="13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Pricing, users, partner config, refunds, dashboards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9144000" y="1389888"/>
            <a:ext cx="2542032" cy="155448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S9 — Diagnostics
</a:t>
            </a:r>
            <a:pPr indent="0" marL="0">
              <a:buNone/>
            </a:pPr>
            <a:r>
              <a:rPr lang="en-US" sz="13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orders, collection slots, report upload, alerts</a:t>
            </a:r>
            <a:endParaRPr lang="en-US" sz="1380" dirty="0"/>
          </a:p>
        </p:txBody>
      </p:sp>
      <p:sp>
        <p:nvSpPr>
          <p:cNvPr id="10" name="Text 7"/>
          <p:cNvSpPr/>
          <p:nvPr/>
        </p:nvSpPr>
        <p:spPr>
          <a:xfrm>
            <a:off x="502920" y="3584448"/>
            <a:ext cx="2542032" cy="155448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S10 — Panchakarma
</a:t>
            </a:r>
            <a:pPr indent="0" marL="0">
              <a:buNone/>
            </a:pPr>
            <a:r>
              <a:rPr lang="en-US" sz="13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Centre onboarding, referrals, sessions, notes</a:t>
            </a:r>
            <a:endParaRPr lang="en-US" sz="1380" dirty="0"/>
          </a:p>
        </p:txBody>
      </p:sp>
      <p:sp>
        <p:nvSpPr>
          <p:cNvPr id="11" name="Text 8"/>
          <p:cNvSpPr/>
          <p:nvPr/>
        </p:nvSpPr>
        <p:spPr>
          <a:xfrm>
            <a:off x="3383280" y="3584448"/>
            <a:ext cx="2542032" cy="155448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 — Security &amp; Observability
</a:t>
            </a:r>
            <a:pPr indent="0" marL="0">
              <a:buNone/>
            </a:pPr>
            <a:r>
              <a:rPr lang="en-US" sz="13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Audit, monitoring, backup, incident runbooks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6263640" y="3584448"/>
            <a:ext cx="2542032" cy="155448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 — Beta Launch
</a:t>
            </a:r>
            <a:pPr indent="0" marL="0">
              <a:buNone/>
            </a:pPr>
            <a:r>
              <a:rPr lang="en-US" sz="138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fixes, training, smoke tests, go-live dashboard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roadmap by release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Each release should create business capability, not only technical components.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426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12A86"/>
                </a:solidFill>
              </a:rPr>
              <a:t>MVP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755648"/>
            <a:ext cx="3337560" cy="155448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engine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PWA + Doctor Portal + booking + payment + Care Plan + medicines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480560" y="1426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94C6"/>
                </a:solidFill>
              </a:rPr>
              <a:t>MVP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34840" y="1755648"/>
            <a:ext cx="3337560" cy="155448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engine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CRM + Admin + dashboards + TechOps + ticket escalations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92440" y="1426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A17"/>
                </a:solidFill>
              </a:rPr>
              <a:t>MVP 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1755648"/>
            <a:ext cx="3337560" cy="1554480"/>
          </a:xfrm>
          <a:prstGeom prst="rect">
            <a:avLst/>
          </a:prstGeom>
          <a:solidFill>
            <a:srgbClr val="FFF3E4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engine
</a:t>
            </a:r>
            <a:pPr indent="0" marL="0">
              <a:buNone/>
            </a:pPr>
            <a:r>
              <a:rPr lang="en-US" sz="155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+ Panchakarma + partner settlements + quality monitoring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206240" y="2487168"/>
            <a:ext cx="201168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818120" y="2487168"/>
            <a:ext cx="201168" cy="0"/>
          </a:xfrm>
          <a:prstGeom prst="line">
            <a:avLst/>
          </a:prstGeom>
          <a:noFill/>
          <a:ln w="16510">
            <a:solidFill>
              <a:srgbClr val="F28A17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2011680" y="4160520"/>
            <a:ext cx="8138160" cy="941832"/>
          </a:xfrm>
          <a:prstGeom prst="rect">
            <a:avLst/>
          </a:prstGeom>
          <a:solidFill>
            <a:srgbClr val="FFFFFF"/>
          </a:solidFill>
          <a:ln w="13335">
            <a:solidFill>
              <a:srgbClr val="C6007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release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mobile apps, AI-assisted notes, ABDM integrations, corporate programs, multi-city rollout and advanced analytics.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Ayurveda Integrated Care Platform | IT Stack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812A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decisions for ABIES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Decisions to close before detailed PRD and vendor estimation.</a:t>
            </a:r>
            <a:endParaRPr lang="en-US" sz="1150" dirty="0"/>
          </a:p>
        </p:txBody>
      </p:sp>
      <p:pic>
        <p:nvPicPr>
          <p:cNvPr id="4" name="Image 0" descr="/mnt/data/abies_brand_work/abies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01168"/>
            <a:ext cx="1143000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79576"/>
            <a:ext cx="2240280" cy="54864"/>
          </a:xfrm>
          <a:prstGeom prst="rect">
            <a:avLst/>
          </a:prstGeom>
          <a:solidFill>
            <a:srgbClr val="F28A17"/>
          </a:solidFill>
          <a:ln w="12700">
            <a:solidFill>
              <a:srgbClr val="F28A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417320"/>
            <a:ext cx="5074920" cy="2331720"/>
          </a:xfrm>
          <a:prstGeom prst="rect">
            <a:avLst/>
          </a:prstGeom>
          <a:solidFill>
            <a:srgbClr val="F5ECF7"/>
          </a:solidFill>
          <a:ln w="13335">
            <a:solidFill>
              <a:srgbClr val="812A8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1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decisions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PWA-first or native app-first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Cloud/VPS provider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custom support CRM or integrate external CRM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Payment/logistics/video vendors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 city and partner onboarding volume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55080" y="1417320"/>
            <a:ext cx="5074920" cy="2331720"/>
          </a:xfrm>
          <a:prstGeom prst="rect">
            <a:avLst/>
          </a:prstGeom>
          <a:solidFill>
            <a:srgbClr val="EAF6FC"/>
          </a:solidFill>
          <a:ln w="13335">
            <a:solidFill>
              <a:srgbClr val="2D9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94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decisions
</a:t>
            </a:r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Modular monolith vs microservices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ABDM integration phase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retention policy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baseline and audit requirements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backup and DR objective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526280"/>
            <a:ext cx="9418320" cy="868680"/>
          </a:xfrm>
          <a:prstGeom prst="rect">
            <a:avLst/>
          </a:prstGeom>
          <a:solidFill>
            <a:srgbClr val="FFFFFF"/>
          </a:solidFill>
          <a:ln w="13335">
            <a:solidFill>
              <a:srgbClr val="F28A17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
</a:t>
            </a:r>
            <a:pPr indent="0" marL="0">
              <a:buNone/>
            </a:pPr>
            <a:r>
              <a:rPr lang="en-US" sz="1700" dirty="0">
                <a:solidFill>
                  <a:srgbClr val="3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this IT stack into a detailed technical PRD: screens, APIs, entities, role matrix, integration contracts, event model, test cases, deployment topology and sprint backlog.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8AA0"/>
                </a:solidFill>
              </a:rPr>
              <a:t>ABIES | IT Stack and Architecture Deck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ABIES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ABIES Ayurveda Platform IT Stack</dc:title>
  <dc:subject>ABIES Ayurveda Integrated Care Platform IT Stack</dc:subject>
  <dc:creator>OpenAI</dc:creator>
  <cp:lastModifiedBy>OpenAI</cp:lastModifiedBy>
  <cp:revision>1</cp:revision>
  <dcterms:created xsi:type="dcterms:W3CDTF">2026-09-22T12:19:23Z</dcterms:created>
  <dcterms:modified xsi:type="dcterms:W3CDTF">2026-09-22T12:19:23Z</dcterms:modified>
</cp:coreProperties>
</file>